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Twenty thousand traditional-trade outlets — every kade, every bakery, every roadside eatery — generate two-and-a-half million transactions a month. The leadership challenge is that historical sales tell us what an outlet did sell, not what it could sell. We built the system that closes that gap.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Picture a small kade in Maharagama. They sell two hundred litres of soft drink a month — that's the V we record. But they have no cooler. If we added one, they'd sell six hundred. The two hundred is V. The six hundred is D. The forty kilometres they live from the cold-storage hub is C. Leadership has been allocating budget based on the two hundred. We need to allocate based on the six hundred.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We deliberately avoided machine learning trained on V. A learner would faithfully reproduce V — including its censoring. Instead we built a five-method ensemble. The peer-quantile anchor is our most stable estimator. Tobit handles the censoring formally. Aigner-Lovell-Schmidt frontier analysis separates noise from inefficiency. Log-linear is the complete-case proxy. And an interpretable business formula gives reviewers a number they can compute by hand. All five rank the outlets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The brief said 'further improve and fine-tune distance-decay'. We replaced flat POI counts with non-linear Gaussian and gravity kernels across nine semantic categories. Then we added Herfindahl indexes to measure market concentration. Western Province is the most fragmented market in the country. North-Western is the most concentrated. The system treats these very differently when allocating budget.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Because there's no observed January 2026 ground truth, we built the hardest test we could. We re-fit the entire framework on 2023 and 2024 data only — pretending 2025 didn't exist — and predicted last January. The rank correlation against actuals is 0.79 across more than eleven thousand outlets. That's our best estimate of how well the framework will generalise to 2026.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Promotional response is concave — the second LKR thousand is less impactful than the first. We adopted the square-root utility shape that's standard in marketing-mix modelling. Closed-form water-filling gives the optimal allocation. The output is a per-outlet LKR amount decomposed across the three channels the brief named: discount, merchandising, and promotional spend.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If leadership took one decision from this submission, it should be this one. Of the seven thousand outlets without a cooler today, our model identifies one hundred that pay back the cooler in under four months on average and generate twenty-eight-point-six million rupees of net margin in two years — almost six times the capital deployed. The full ranked list is inside the web app.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[Switch to live web app at localhost:3000.] Dashboard — total predicted potential six-point-three-five million litres, LKR 5 M allocated. [Click Outlets, filter Western + Grocery + Medium.] Twelve hundred outlets. [Click any high-potential outlet.] Drill-down. Top reasons. Click 'Explain this outlet.' Gemini returns two paragraphs and three actions. [Switch to Insights.] Cooler ROI, dormancy, scorecard, territories on a map. Five minutes total.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We don't propose flipping a switch. Month one: pilot thirty coolers, train reps on the app, deploy our quality checks into the live SFA pipeline. Month two: calibrate the elasticity coefficient on real pilot data — the one number we can't compute from this dataset alone. Month three: scale, A/B test the channel split, and run the first quarterly review where every distributor sees their scorecard. By month six this system owns every quarterly budget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Five numbers to take away. Twenty-eight-point-six million rupees of net value from the cooler programme. Two hundred outlets we can save before they go dormant. The first per-outlet trade-spend split this organisation has ever had. A two-standard-deviation gap between our best and worst distributor — already actionable. And every recommendation in the system is traceable, both to its data driver and to its alternative scenario. Questions.
--- BACKUP TALKING POINTS FOR Q&amp;A ---
[LIMITATIONS] β (litres-per-LKR elasticity) is uncalibrated — published as a sensitivity sweep, not a point estimate. Counterfactuals are model-predicted, not empirically validated (dataset has no cooler-install dates). Channel-split weights come from marketing-mix-modelling literature, not from data — the pilot programme calibrates these. OSM POI coverage is patchier in rural districts; within-province tier normalisation mitigates but does not eliminate the bias.
[WHY NO ML] A supervised learner trained on V reproduces V in expectation — including its censoring. Tobit (Tobin 1958) and SFA (Aigner et al 1977) explicitly model D ≥ V when the constraint binds — which is the problem. Five independent textbook estimators converging on the same ranking is stronger evidence than one tuned ML model.
[GENAI ARCHITECTURE] Gemini 2.5 Flash runs only when a user clicks 'Explain this outlet'. The backend assembles a structured payload — predicted score, top SHAP drivers, counterfactual deltas, top-3 actions, KPI summary. The system prompt forbids inventing numbers, forbids statistical jargon, prescribes a two-paragraph + three-bullet output shape. Temperature 0.4. Raw historical volume is never sent — the LLM is a translator of the factual substrate, not an inference engine.
[WHERE IT WILL UNDER-PERFORM] Outlets with very short history (&lt;12 active months) fall back to coarser cohort levels — flagged in peer_group_fallback.csv. Outlets in genuinely new catchment have no peer signal — framework conservatively projects from global median. Hold-out uses Spearman ρ not RMSE because the use case is ranking outlets for action; absolute volume estimates have intentionally wide bounds. The Top-100 cooler list is highest expected NPV — domain judgement is the final filter, not a substitute.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297680"/>
          </a:xfrm>
          <a:prstGeom prst="rect">
            <a:avLst/>
          </a:prstGeom>
          <a:solidFill>
            <a:srgbClr val="0E3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97680"/>
            <a:ext cx="12191695" cy="109728"/>
          </a:xfrm>
          <a:prstGeom prst="rect">
            <a:avLst/>
          </a:prstGeom>
          <a:solidFill>
            <a:srgbClr val="0E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10972800" cy="457200"/>
          </a:xfrm>
          <a:prstGeom prst="rect">
            <a:avLst/>
          </a:prstGeom>
          <a:noFill/>
        </p:spPr>
        <p:txBody>
          <a:bodyPr wrap="square" anchor="t" lIns="0" rIns="0" tIns="0" bIns="0">
            <a:spAutoFit/>
          </a:bodyPr>
          <a:lstStyle/>
          <a:p>
            <a:pPr algn="l"/>
            <a:r>
              <a:rPr sz="1400" b="1" i="0">
                <a:solidFill>
                  <a:srgbClr val="0E7CBE"/>
                </a:solidFill>
                <a:latin typeface="Calibri"/>
              </a:rPr>
              <a:t>DATASTORM v7.0 · FINAL ROUND</a:t>
            </a:r>
          </a:p>
        </p:txBody>
      </p:sp>
      <p:sp>
        <p:nvSpPr>
          <p:cNvPr id="5" name="TextBox 4"/>
          <p:cNvSpPr txBox="1"/>
          <p:nvPr/>
        </p:nvSpPr>
        <p:spPr>
          <a:xfrm>
            <a:off x="640080" y="1097280"/>
            <a:ext cx="10972800" cy="1280160"/>
          </a:xfrm>
          <a:prstGeom prst="rect">
            <a:avLst/>
          </a:prstGeom>
          <a:noFill/>
        </p:spPr>
        <p:txBody>
          <a:bodyPr wrap="square" anchor="t" lIns="0" rIns="0" tIns="0" bIns="0">
            <a:spAutoFit/>
          </a:bodyPr>
          <a:lstStyle/>
          <a:p>
            <a:pPr algn="l"/>
            <a:r>
              <a:rPr sz="6000" b="1" i="0">
                <a:solidFill>
                  <a:srgbClr val="FFFFFF"/>
                </a:solidFill>
                <a:latin typeface="Calibri"/>
              </a:rPr>
              <a:t>Outlet Intelligence</a:t>
            </a:r>
          </a:p>
        </p:txBody>
      </p:sp>
      <p:sp>
        <p:nvSpPr>
          <p:cNvPr id="6" name="TextBox 5"/>
          <p:cNvSpPr txBox="1"/>
          <p:nvPr/>
        </p:nvSpPr>
        <p:spPr>
          <a:xfrm>
            <a:off x="640080" y="2286000"/>
            <a:ext cx="10972800" cy="731520"/>
          </a:xfrm>
          <a:prstGeom prst="rect">
            <a:avLst/>
          </a:prstGeom>
          <a:noFill/>
        </p:spPr>
        <p:txBody>
          <a:bodyPr wrap="square" anchor="t" lIns="0" rIns="0" tIns="0" bIns="0">
            <a:spAutoFit/>
          </a:bodyPr>
          <a:lstStyle/>
          <a:p>
            <a:pPr algn="l"/>
            <a:r>
              <a:rPr sz="2200" b="0" i="0">
                <a:solidFill>
                  <a:srgbClr val="FFFFFF"/>
                </a:solidFill>
                <a:latin typeface="Calibri"/>
              </a:rPr>
              <a:t>Unmasking latent demand for 20,000 Sri Lankan beverage outlets</a:t>
            </a:r>
          </a:p>
        </p:txBody>
      </p:sp>
      <p:sp>
        <p:nvSpPr>
          <p:cNvPr id="7" name="Rounded Rectangle 6"/>
          <p:cNvSpPr/>
          <p:nvPr/>
        </p:nvSpPr>
        <p:spPr>
          <a:xfrm>
            <a:off x="640080" y="4663440"/>
            <a:ext cx="2606040" cy="1371600"/>
          </a:xfrm>
          <a:prstGeom prst="roundRect">
            <a:avLst>
              <a:gd name="adj" fmla="val 8000"/>
            </a:avLst>
          </a:prstGeom>
          <a:solidFill>
            <a:srgbClr val="FFFFFF"/>
          </a:solidFill>
          <a:ln w="9525">
            <a:solidFill>
              <a:srgbClr val="CB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754880"/>
            <a:ext cx="2331720" cy="274320"/>
          </a:xfrm>
          <a:prstGeom prst="rect">
            <a:avLst/>
          </a:prstGeom>
          <a:noFill/>
        </p:spPr>
        <p:txBody>
          <a:bodyPr wrap="square" anchor="t" lIns="0" rIns="0" tIns="0" bIns="0">
            <a:spAutoFit/>
          </a:bodyPr>
          <a:lstStyle/>
          <a:p>
            <a:pPr algn="l"/>
            <a:r>
              <a:rPr sz="1000" b="1" i="0">
                <a:solidFill>
                  <a:srgbClr val="5A6778"/>
                </a:solidFill>
                <a:latin typeface="Calibri"/>
              </a:rPr>
              <a:t>OUTLETS PREDICTED</a:t>
            </a:r>
          </a:p>
        </p:txBody>
      </p:sp>
      <p:sp>
        <p:nvSpPr>
          <p:cNvPr id="9" name="TextBox 8"/>
          <p:cNvSpPr txBox="1"/>
          <p:nvPr/>
        </p:nvSpPr>
        <p:spPr>
          <a:xfrm>
            <a:off x="777240" y="5029200"/>
            <a:ext cx="2331720" cy="914400"/>
          </a:xfrm>
          <a:prstGeom prst="rect">
            <a:avLst/>
          </a:prstGeom>
          <a:noFill/>
        </p:spPr>
        <p:txBody>
          <a:bodyPr wrap="square" anchor="t" lIns="0" rIns="0" tIns="0" bIns="0">
            <a:spAutoFit/>
          </a:bodyPr>
          <a:lstStyle/>
          <a:p>
            <a:pPr algn="l"/>
            <a:r>
              <a:rPr sz="2200" b="1" i="0">
                <a:solidFill>
                  <a:srgbClr val="0E7CBE"/>
                </a:solidFill>
                <a:latin typeface="Calibri"/>
              </a:rPr>
              <a:t>20,000</a:t>
            </a:r>
          </a:p>
        </p:txBody>
      </p:sp>
      <p:sp>
        <p:nvSpPr>
          <p:cNvPr id="10" name="Rounded Rectangle 9"/>
          <p:cNvSpPr/>
          <p:nvPr/>
        </p:nvSpPr>
        <p:spPr>
          <a:xfrm>
            <a:off x="3429000" y="4663440"/>
            <a:ext cx="2606040" cy="1371600"/>
          </a:xfrm>
          <a:prstGeom prst="roundRect">
            <a:avLst>
              <a:gd name="adj" fmla="val 8000"/>
            </a:avLst>
          </a:prstGeom>
          <a:solidFill>
            <a:srgbClr val="FFFFFF"/>
          </a:solidFill>
          <a:ln w="9525">
            <a:solidFill>
              <a:srgbClr val="CB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4754880"/>
            <a:ext cx="2331720" cy="274320"/>
          </a:xfrm>
          <a:prstGeom prst="rect">
            <a:avLst/>
          </a:prstGeom>
          <a:noFill/>
        </p:spPr>
        <p:txBody>
          <a:bodyPr wrap="square" anchor="t" lIns="0" rIns="0" tIns="0" bIns="0">
            <a:spAutoFit/>
          </a:bodyPr>
          <a:lstStyle/>
          <a:p>
            <a:pPr algn="l"/>
            <a:r>
              <a:rPr sz="1000" b="1" i="0">
                <a:solidFill>
                  <a:srgbClr val="5A6778"/>
                </a:solidFill>
                <a:latin typeface="Calibri"/>
              </a:rPr>
              <a:t>HOLD-OUT SPEARMAN ρ</a:t>
            </a:r>
          </a:p>
        </p:txBody>
      </p:sp>
      <p:sp>
        <p:nvSpPr>
          <p:cNvPr id="12" name="TextBox 11"/>
          <p:cNvSpPr txBox="1"/>
          <p:nvPr/>
        </p:nvSpPr>
        <p:spPr>
          <a:xfrm>
            <a:off x="3566160" y="5029200"/>
            <a:ext cx="2331720" cy="914400"/>
          </a:xfrm>
          <a:prstGeom prst="rect">
            <a:avLst/>
          </a:prstGeom>
          <a:noFill/>
        </p:spPr>
        <p:txBody>
          <a:bodyPr wrap="square" anchor="t" lIns="0" rIns="0" tIns="0" bIns="0">
            <a:spAutoFit/>
          </a:bodyPr>
          <a:lstStyle/>
          <a:p>
            <a:pPr algn="l"/>
            <a:r>
              <a:rPr sz="2200" b="1" i="0">
                <a:solidFill>
                  <a:srgbClr val="10B981"/>
                </a:solidFill>
                <a:latin typeface="Calibri"/>
              </a:rPr>
              <a:t>0.794</a:t>
            </a:r>
          </a:p>
        </p:txBody>
      </p:sp>
      <p:sp>
        <p:nvSpPr>
          <p:cNvPr id="13" name="Rounded Rectangle 12"/>
          <p:cNvSpPr/>
          <p:nvPr/>
        </p:nvSpPr>
        <p:spPr>
          <a:xfrm>
            <a:off x="6217920" y="4663440"/>
            <a:ext cx="2606040" cy="1371600"/>
          </a:xfrm>
          <a:prstGeom prst="roundRect">
            <a:avLst>
              <a:gd name="adj" fmla="val 8000"/>
            </a:avLst>
          </a:prstGeom>
          <a:solidFill>
            <a:srgbClr val="FFFFFF"/>
          </a:solidFill>
          <a:ln w="9525">
            <a:solidFill>
              <a:srgbClr val="CB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4754880"/>
            <a:ext cx="2331720" cy="274320"/>
          </a:xfrm>
          <a:prstGeom prst="rect">
            <a:avLst/>
          </a:prstGeom>
          <a:noFill/>
        </p:spPr>
        <p:txBody>
          <a:bodyPr wrap="square" anchor="t" lIns="0" rIns="0" tIns="0" bIns="0">
            <a:spAutoFit/>
          </a:bodyPr>
          <a:lstStyle/>
          <a:p>
            <a:pPr algn="l"/>
            <a:r>
              <a:rPr sz="1000" b="1" i="0">
                <a:solidFill>
                  <a:srgbClr val="5A6778"/>
                </a:solidFill>
                <a:latin typeface="Calibri"/>
              </a:rPr>
              <a:t>LKR ALLOCATED</a:t>
            </a:r>
          </a:p>
        </p:txBody>
      </p:sp>
      <p:sp>
        <p:nvSpPr>
          <p:cNvPr id="15" name="TextBox 14"/>
          <p:cNvSpPr txBox="1"/>
          <p:nvPr/>
        </p:nvSpPr>
        <p:spPr>
          <a:xfrm>
            <a:off x="6355080" y="5029200"/>
            <a:ext cx="2331720" cy="914400"/>
          </a:xfrm>
          <a:prstGeom prst="rect">
            <a:avLst/>
          </a:prstGeom>
          <a:noFill/>
        </p:spPr>
        <p:txBody>
          <a:bodyPr wrap="square" anchor="t" lIns="0" rIns="0" tIns="0" bIns="0">
            <a:spAutoFit/>
          </a:bodyPr>
          <a:lstStyle/>
          <a:p>
            <a:pPr algn="l"/>
            <a:r>
              <a:rPr sz="2200" b="1" i="0">
                <a:solidFill>
                  <a:srgbClr val="F97316"/>
                </a:solidFill>
                <a:latin typeface="Calibri"/>
              </a:rPr>
              <a:t>4,999,956</a:t>
            </a:r>
          </a:p>
        </p:txBody>
      </p:sp>
      <p:sp>
        <p:nvSpPr>
          <p:cNvPr id="16" name="Rounded Rectangle 15"/>
          <p:cNvSpPr/>
          <p:nvPr/>
        </p:nvSpPr>
        <p:spPr>
          <a:xfrm>
            <a:off x="9006840" y="4663440"/>
            <a:ext cx="2606040" cy="1371600"/>
          </a:xfrm>
          <a:prstGeom prst="roundRect">
            <a:avLst>
              <a:gd name="adj" fmla="val 8000"/>
            </a:avLst>
          </a:prstGeom>
          <a:solidFill>
            <a:srgbClr val="FFFFFF"/>
          </a:solidFill>
          <a:ln w="9525">
            <a:solidFill>
              <a:srgbClr val="CB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0" y="4754880"/>
            <a:ext cx="2331720" cy="274320"/>
          </a:xfrm>
          <a:prstGeom prst="rect">
            <a:avLst/>
          </a:prstGeom>
          <a:noFill/>
        </p:spPr>
        <p:txBody>
          <a:bodyPr wrap="square" anchor="t" lIns="0" rIns="0" tIns="0" bIns="0">
            <a:spAutoFit/>
          </a:bodyPr>
          <a:lstStyle/>
          <a:p>
            <a:pPr algn="l"/>
            <a:r>
              <a:rPr sz="1000" b="1" i="0">
                <a:solidFill>
                  <a:srgbClr val="5A6778"/>
                </a:solidFill>
                <a:latin typeface="Calibri"/>
              </a:rPr>
              <a:t>COOLER TOP-100 NET</a:t>
            </a:r>
          </a:p>
        </p:txBody>
      </p:sp>
      <p:sp>
        <p:nvSpPr>
          <p:cNvPr id="18" name="TextBox 17"/>
          <p:cNvSpPr txBox="1"/>
          <p:nvPr/>
        </p:nvSpPr>
        <p:spPr>
          <a:xfrm>
            <a:off x="9144000" y="5029200"/>
            <a:ext cx="2331720" cy="914400"/>
          </a:xfrm>
          <a:prstGeom prst="rect">
            <a:avLst/>
          </a:prstGeom>
          <a:noFill/>
        </p:spPr>
        <p:txBody>
          <a:bodyPr wrap="square" anchor="t" lIns="0" rIns="0" tIns="0" bIns="0">
            <a:spAutoFit/>
          </a:bodyPr>
          <a:lstStyle/>
          <a:p>
            <a:pPr algn="l"/>
            <a:r>
              <a:rPr sz="2200" b="1" i="0">
                <a:solidFill>
                  <a:srgbClr val="0E3F6E"/>
                </a:solidFill>
                <a:latin typeface="Calibri"/>
              </a:rPr>
              <a:t>LKR 28.6 M</a:t>
            </a:r>
          </a:p>
        </p:txBody>
      </p:sp>
      <p:sp>
        <p:nvSpPr>
          <p:cNvPr id="19" name="TextBox 18"/>
          <p:cNvSpPr txBox="1"/>
          <p:nvPr/>
        </p:nvSpPr>
        <p:spPr>
          <a:xfrm>
            <a:off x="640080" y="6263640"/>
            <a:ext cx="10972800" cy="365760"/>
          </a:xfrm>
          <a:prstGeom prst="rect">
            <a:avLst/>
          </a:prstGeom>
          <a:noFill/>
        </p:spPr>
        <p:txBody>
          <a:bodyPr wrap="square" anchor="t" lIns="0" rIns="0" tIns="0" bIns="0">
            <a:spAutoFit/>
          </a:bodyPr>
          <a:lstStyle/>
          <a:p>
            <a:pPr algn="l"/>
            <a:r>
              <a:rPr sz="1400" b="0" i="0">
                <a:solidFill>
                  <a:srgbClr val="5A6778"/>
                </a:solidFill>
                <a:latin typeface="Calibri"/>
              </a:rPr>
              <a:t>Team DataX  ·  A.G. Aditha Buwaneka Wimalasuriya</a:t>
            </a:r>
          </a:p>
        </p:txBody>
      </p:sp>
      <p:sp>
        <p:nvSpPr>
          <p:cNvPr id="20" name="TextBox 19"/>
          <p:cNvSpPr txBox="1"/>
          <p:nvPr/>
        </p:nvSpPr>
        <p:spPr>
          <a:xfrm>
            <a:off x="10515600" y="6492240"/>
            <a:ext cx="1463040" cy="274320"/>
          </a:xfrm>
          <a:prstGeom prst="rect">
            <a:avLst/>
          </a:prstGeom>
          <a:noFill/>
        </p:spPr>
        <p:txBody>
          <a:bodyPr wrap="square" anchor="t" lIns="0" rIns="0" tIns="0" bIns="0">
            <a:spAutoFit/>
          </a:bodyPr>
          <a:lstStyle/>
          <a:p>
            <a:pPr algn="r"/>
            <a:r>
              <a:rPr sz="1000" b="0" i="0">
                <a:solidFill>
                  <a:srgbClr val="5A6778"/>
                </a:solidFill>
                <a:latin typeface="Calibri"/>
              </a:rPr>
              <a:t>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3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430000" cy="365760"/>
          </a:xfrm>
          <a:prstGeom prst="rect">
            <a:avLst/>
          </a:prstGeom>
          <a:noFill/>
        </p:spPr>
        <p:txBody>
          <a:bodyPr wrap="square" anchor="t" lIns="0" rIns="0" tIns="0" bIns="0">
            <a:spAutoFit/>
          </a:bodyPr>
          <a:lstStyle/>
          <a:p>
            <a:pPr algn="l"/>
            <a:r>
              <a:rPr sz="1100" b="1" i="0">
                <a:solidFill>
                  <a:srgbClr val="0E7CBE"/>
                </a:solidFill>
                <a:latin typeface="Calibri"/>
              </a:rPr>
              <a:t>01 · THE BUSINESS PROBLEM</a:t>
            </a:r>
          </a:p>
        </p:txBody>
      </p:sp>
      <p:sp>
        <p:nvSpPr>
          <p:cNvPr id="4" name="TextBox 3"/>
          <p:cNvSpPr txBox="1"/>
          <p:nvPr/>
        </p:nvSpPr>
        <p:spPr>
          <a:xfrm>
            <a:off x="502920" y="777240"/>
            <a:ext cx="11430000" cy="777240"/>
          </a:xfrm>
          <a:prstGeom prst="rect">
            <a:avLst/>
          </a:prstGeom>
          <a:noFill/>
        </p:spPr>
        <p:txBody>
          <a:bodyPr wrap="square" anchor="t" lIns="0" rIns="0" tIns="0" bIns="0">
            <a:spAutoFit/>
          </a:bodyPr>
          <a:lstStyle/>
          <a:p>
            <a:pPr algn="l"/>
            <a:r>
              <a:rPr sz="3200" b="1" i="0">
                <a:solidFill>
                  <a:srgbClr val="0E3F6E"/>
                </a:solidFill>
                <a:latin typeface="Calibri"/>
              </a:rPr>
              <a:t>The hidden half of demand</a:t>
            </a:r>
          </a:p>
        </p:txBody>
      </p:sp>
      <p:sp>
        <p:nvSpPr>
          <p:cNvPr id="5" name="Rectangle 4"/>
          <p:cNvSpPr/>
          <p:nvPr/>
        </p:nvSpPr>
        <p:spPr>
          <a:xfrm>
            <a:off x="1828800" y="2011680"/>
            <a:ext cx="8503920" cy="14630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2240280"/>
            <a:ext cx="8503920" cy="1005840"/>
          </a:xfrm>
          <a:prstGeom prst="rect">
            <a:avLst/>
          </a:prstGeom>
          <a:noFill/>
        </p:spPr>
        <p:txBody>
          <a:bodyPr wrap="square" anchor="t" lIns="0" rIns="0" tIns="0" bIns="0">
            <a:spAutoFit/>
          </a:bodyPr>
          <a:lstStyle/>
          <a:p>
            <a:pPr algn="ctr"/>
            <a:r>
              <a:rPr sz="5400" b="1" i="0">
                <a:solidFill>
                  <a:srgbClr val="0E3F6E"/>
                </a:solidFill>
                <a:latin typeface="Calibri"/>
              </a:rPr>
              <a:t>V = min( D, C )</a:t>
            </a:r>
          </a:p>
        </p:txBody>
      </p:sp>
      <p:sp>
        <p:nvSpPr>
          <p:cNvPr id="7" name="TextBox 6"/>
          <p:cNvSpPr txBox="1"/>
          <p:nvPr/>
        </p:nvSpPr>
        <p:spPr>
          <a:xfrm>
            <a:off x="1828800" y="2926080"/>
            <a:ext cx="8503920" cy="457200"/>
          </a:xfrm>
          <a:prstGeom prst="rect">
            <a:avLst/>
          </a:prstGeom>
          <a:noFill/>
        </p:spPr>
        <p:txBody>
          <a:bodyPr wrap="square" anchor="t" lIns="0" rIns="0" tIns="0" bIns="0">
            <a:spAutoFit/>
          </a:bodyPr>
          <a:lstStyle/>
          <a:p>
            <a:pPr algn="ctr"/>
            <a:r>
              <a:rPr sz="1500" b="0" i="1">
                <a:solidFill>
                  <a:srgbClr val="5A6778"/>
                </a:solidFill>
                <a:latin typeface="Calibri"/>
              </a:rPr>
              <a:t>observed = min ( latent demand , systemic constraint )</a:t>
            </a:r>
          </a:p>
        </p:txBody>
      </p:sp>
      <p:sp>
        <p:nvSpPr>
          <p:cNvPr id="8" name="TextBox 7"/>
          <p:cNvSpPr txBox="1"/>
          <p:nvPr/>
        </p:nvSpPr>
        <p:spPr>
          <a:xfrm>
            <a:off x="640080" y="4114800"/>
            <a:ext cx="5486400" cy="365760"/>
          </a:xfrm>
          <a:prstGeom prst="rect">
            <a:avLst/>
          </a:prstGeom>
          <a:noFill/>
        </p:spPr>
        <p:txBody>
          <a:bodyPr wrap="square" anchor="t" lIns="0" rIns="0" tIns="0" bIns="0">
            <a:spAutoFit/>
          </a:bodyPr>
          <a:lstStyle/>
          <a:p>
            <a:pPr algn="l"/>
            <a:r>
              <a:rPr sz="1200" b="1" i="0">
                <a:solidFill>
                  <a:srgbClr val="0E7CBE"/>
                </a:solidFill>
                <a:latin typeface="Calibri"/>
              </a:rPr>
              <a:t>WHAT WE OBSERVE</a:t>
            </a:r>
          </a:p>
        </p:txBody>
      </p:sp>
      <p:sp>
        <p:nvSpPr>
          <p:cNvPr id="9" name="TextBox 8"/>
          <p:cNvSpPr txBox="1"/>
          <p:nvPr/>
        </p:nvSpPr>
        <p:spPr>
          <a:xfrm>
            <a:off x="640080" y="4480560"/>
            <a:ext cx="5486400" cy="2194560"/>
          </a:xfrm>
          <a:prstGeom prst="rect">
            <a:avLst/>
          </a:prstGeom>
          <a:noFill/>
        </p:spPr>
        <p:txBody>
          <a:bodyPr wrap="square" anchor="t" lIns="0" rIns="0" tIns="0" bIns="0">
            <a:spAutoFit/>
          </a:bodyPr>
          <a:lstStyle/>
          <a:p>
            <a:pPr algn="l"/>
            <a:r>
              <a:rPr sz="1400" b="0" i="0">
                <a:solidFill>
                  <a:srgbClr val="1A202C"/>
                </a:solidFill>
                <a:latin typeface="Calibri"/>
              </a:rPr>
              <a:t>Historical V — every distributor invoice. Whatever the outlet actually bought. Constrained, censored, biased downward whenever credit, cooler, or supply got in the way.</a:t>
            </a:r>
          </a:p>
        </p:txBody>
      </p:sp>
      <p:sp>
        <p:nvSpPr>
          <p:cNvPr id="10" name="TextBox 9"/>
          <p:cNvSpPr txBox="1"/>
          <p:nvPr/>
        </p:nvSpPr>
        <p:spPr>
          <a:xfrm>
            <a:off x="6400800" y="4114800"/>
            <a:ext cx="5486400" cy="365760"/>
          </a:xfrm>
          <a:prstGeom prst="rect">
            <a:avLst/>
          </a:prstGeom>
          <a:noFill/>
        </p:spPr>
        <p:txBody>
          <a:bodyPr wrap="square" anchor="t" lIns="0" rIns="0" tIns="0" bIns="0">
            <a:spAutoFit/>
          </a:bodyPr>
          <a:lstStyle/>
          <a:p>
            <a:pPr algn="l"/>
            <a:r>
              <a:rPr sz="1200" b="1" i="0">
                <a:solidFill>
                  <a:srgbClr val="0E7CBE"/>
                </a:solidFill>
                <a:latin typeface="Calibri"/>
              </a:rPr>
              <a:t>WHAT WE NEED</a:t>
            </a:r>
          </a:p>
        </p:txBody>
      </p:sp>
      <p:sp>
        <p:nvSpPr>
          <p:cNvPr id="11" name="TextBox 10"/>
          <p:cNvSpPr txBox="1"/>
          <p:nvPr/>
        </p:nvSpPr>
        <p:spPr>
          <a:xfrm>
            <a:off x="6400800" y="4480560"/>
            <a:ext cx="5486400" cy="2194560"/>
          </a:xfrm>
          <a:prstGeom prst="rect">
            <a:avLst/>
          </a:prstGeom>
          <a:noFill/>
        </p:spPr>
        <p:txBody>
          <a:bodyPr wrap="square" anchor="t" lIns="0" rIns="0" tIns="0" bIns="0">
            <a:spAutoFit/>
          </a:bodyPr>
          <a:lstStyle/>
          <a:p>
            <a:pPr algn="l"/>
            <a:r>
              <a:rPr sz="1400" b="0" i="0">
                <a:solidFill>
                  <a:srgbClr val="1A202C"/>
                </a:solidFill>
                <a:latin typeface="Calibri"/>
              </a:rPr>
              <a:t>Latent D — what a healthy version of the outlet would buy in January 2026 if credit, cooler and supply constraints were relaxed. That is the number that should drive trade-spend and cooler-deployment decisions.</a:t>
            </a:r>
          </a:p>
        </p:txBody>
      </p:sp>
      <p:sp>
        <p:nvSpPr>
          <p:cNvPr id="12" name="TextBox 11"/>
          <p:cNvSpPr txBox="1"/>
          <p:nvPr/>
        </p:nvSpPr>
        <p:spPr>
          <a:xfrm>
            <a:off x="10515600" y="6492240"/>
            <a:ext cx="1463040" cy="274320"/>
          </a:xfrm>
          <a:prstGeom prst="rect">
            <a:avLst/>
          </a:prstGeom>
          <a:noFill/>
        </p:spPr>
        <p:txBody>
          <a:bodyPr wrap="square" anchor="t" lIns="0" rIns="0" tIns="0" bIns="0">
            <a:spAutoFit/>
          </a:bodyPr>
          <a:lstStyle/>
          <a:p>
            <a:pPr algn="r"/>
            <a:r>
              <a:rPr sz="1000" b="0" i="0">
                <a:solidFill>
                  <a:srgbClr val="5A6778"/>
                </a:solidFill>
                <a:latin typeface="Calibri"/>
              </a:rPr>
              <a:t>2 / 10</a:t>
            </a:r>
          </a:p>
        </p:txBody>
      </p:sp>
      <p:sp>
        <p:nvSpPr>
          <p:cNvPr id="13" name="TextBox 12"/>
          <p:cNvSpPr txBox="1"/>
          <p:nvPr/>
        </p:nvSpPr>
        <p:spPr>
          <a:xfrm>
            <a:off x="502920" y="6492240"/>
            <a:ext cx="7315200" cy="274320"/>
          </a:xfrm>
          <a:prstGeom prst="rect">
            <a:avLst/>
          </a:prstGeom>
          <a:noFill/>
        </p:spPr>
        <p:txBody>
          <a:bodyPr wrap="square" anchor="t" lIns="0" rIns="0" tIns="0" bIns="0">
            <a:spAutoFit/>
          </a:bodyPr>
          <a:lstStyle/>
          <a:p>
            <a:pPr algn="l"/>
            <a:r>
              <a:rPr sz="1000" b="0" i="0">
                <a:solidFill>
                  <a:srgbClr val="5A6778"/>
                </a:solidFill>
                <a:latin typeface="Calibri"/>
              </a:rPr>
              <a:t>The Business Problem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3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430000" cy="365760"/>
          </a:xfrm>
          <a:prstGeom prst="rect">
            <a:avLst/>
          </a:prstGeom>
          <a:noFill/>
        </p:spPr>
        <p:txBody>
          <a:bodyPr wrap="square" anchor="t" lIns="0" rIns="0" tIns="0" bIns="0">
            <a:spAutoFit/>
          </a:bodyPr>
          <a:lstStyle/>
          <a:p>
            <a:pPr algn="l"/>
            <a:r>
              <a:rPr sz="1100" b="1" i="0">
                <a:solidFill>
                  <a:srgbClr val="0E7CBE"/>
                </a:solidFill>
                <a:latin typeface="Calibri"/>
              </a:rPr>
              <a:t>02 · OUR FRAMEWORK</a:t>
            </a:r>
          </a:p>
        </p:txBody>
      </p:sp>
      <p:sp>
        <p:nvSpPr>
          <p:cNvPr id="4" name="TextBox 3"/>
          <p:cNvSpPr txBox="1"/>
          <p:nvPr/>
        </p:nvSpPr>
        <p:spPr>
          <a:xfrm>
            <a:off x="502920" y="777240"/>
            <a:ext cx="11430000" cy="777240"/>
          </a:xfrm>
          <a:prstGeom prst="rect">
            <a:avLst/>
          </a:prstGeom>
          <a:noFill/>
        </p:spPr>
        <p:txBody>
          <a:bodyPr wrap="square" anchor="t" lIns="0" rIns="0" tIns="0" bIns="0">
            <a:spAutoFit/>
          </a:bodyPr>
          <a:lstStyle/>
          <a:p>
            <a:pPr algn="l"/>
            <a:r>
              <a:rPr sz="3200" b="1" i="0">
                <a:solidFill>
                  <a:srgbClr val="0E3F6E"/>
                </a:solidFill>
                <a:latin typeface="Calibri"/>
              </a:rPr>
              <a:t>Five textbook methods converge on one answer</a:t>
            </a:r>
          </a:p>
        </p:txBody>
      </p:sp>
      <p:sp>
        <p:nvSpPr>
          <p:cNvPr id="5" name="Rounded Rectangle 4"/>
          <p:cNvSpPr/>
          <p:nvPr/>
        </p:nvSpPr>
        <p:spPr>
          <a:xfrm>
            <a:off x="502920" y="2194560"/>
            <a:ext cx="2194560" cy="2286000"/>
          </a:xfrm>
          <a:prstGeom prst="roundRect">
            <a:avLst>
              <a:gd name="adj" fmla="val 7000"/>
            </a:avLst>
          </a:prstGeom>
          <a:solidFill>
            <a:srgbClr val="FFFFFF"/>
          </a:solidFill>
          <a:ln w="25400">
            <a:solidFill>
              <a:srgbClr val="0E7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2194560"/>
            <a:ext cx="2194560" cy="457200"/>
          </a:xfrm>
          <a:prstGeom prst="rect">
            <a:avLst/>
          </a:prstGeom>
          <a:solidFill>
            <a:srgbClr val="0E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86000"/>
            <a:ext cx="1920240" cy="365760"/>
          </a:xfrm>
          <a:prstGeom prst="rect">
            <a:avLst/>
          </a:prstGeom>
          <a:noFill/>
        </p:spPr>
        <p:txBody>
          <a:bodyPr wrap="square" anchor="t" lIns="0" rIns="0" tIns="0" bIns="0">
            <a:spAutoFit/>
          </a:bodyPr>
          <a:lstStyle/>
          <a:p>
            <a:pPr algn="l"/>
            <a:r>
              <a:rPr sz="1400" b="1" i="0">
                <a:solidFill>
                  <a:srgbClr val="FFFFFF"/>
                </a:solidFill>
                <a:latin typeface="Calibri"/>
              </a:rPr>
              <a:t>Peer Q90</a:t>
            </a:r>
          </a:p>
        </p:txBody>
      </p:sp>
      <p:sp>
        <p:nvSpPr>
          <p:cNvPr id="8" name="TextBox 7"/>
          <p:cNvSpPr txBox="1"/>
          <p:nvPr/>
        </p:nvSpPr>
        <p:spPr>
          <a:xfrm>
            <a:off x="640080" y="2788920"/>
            <a:ext cx="1920240" cy="320040"/>
          </a:xfrm>
          <a:prstGeom prst="rect">
            <a:avLst/>
          </a:prstGeom>
          <a:noFill/>
        </p:spPr>
        <p:txBody>
          <a:bodyPr wrap="square" anchor="t" lIns="0" rIns="0" tIns="0" bIns="0">
            <a:spAutoFit/>
          </a:bodyPr>
          <a:lstStyle/>
          <a:p>
            <a:pPr algn="l"/>
            <a:r>
              <a:rPr sz="900" b="1" i="0">
                <a:solidFill>
                  <a:srgbClr val="5A6778"/>
                </a:solidFill>
                <a:latin typeface="Calibri"/>
              </a:rPr>
              <a:t>ANCHOR</a:t>
            </a:r>
          </a:p>
        </p:txBody>
      </p:sp>
      <p:sp>
        <p:nvSpPr>
          <p:cNvPr id="9" name="TextBox 8"/>
          <p:cNvSpPr txBox="1"/>
          <p:nvPr/>
        </p:nvSpPr>
        <p:spPr>
          <a:xfrm>
            <a:off x="640080" y="3108960"/>
            <a:ext cx="1920240" cy="731520"/>
          </a:xfrm>
          <a:prstGeom prst="rect">
            <a:avLst/>
          </a:prstGeom>
          <a:noFill/>
        </p:spPr>
        <p:txBody>
          <a:bodyPr wrap="square" anchor="t" lIns="0" rIns="0" tIns="0" bIns="0">
            <a:spAutoFit/>
          </a:bodyPr>
          <a:lstStyle/>
          <a:p>
            <a:pPr algn="l"/>
            <a:r>
              <a:rPr sz="1200" b="0" i="0">
                <a:solidFill>
                  <a:srgbClr val="1A202C"/>
                </a:solidFill>
                <a:latin typeface="Calibri"/>
              </a:rPr>
              <a:t>Cohort-conditional
90th percentile</a:t>
            </a:r>
          </a:p>
        </p:txBody>
      </p:sp>
      <p:sp>
        <p:nvSpPr>
          <p:cNvPr id="10" name="TextBox 9"/>
          <p:cNvSpPr txBox="1"/>
          <p:nvPr/>
        </p:nvSpPr>
        <p:spPr>
          <a:xfrm>
            <a:off x="640080" y="4023360"/>
            <a:ext cx="1920240" cy="274320"/>
          </a:xfrm>
          <a:prstGeom prst="rect">
            <a:avLst/>
          </a:prstGeom>
          <a:noFill/>
        </p:spPr>
        <p:txBody>
          <a:bodyPr wrap="square" anchor="t" lIns="0" rIns="0" tIns="0" bIns="0">
            <a:spAutoFit/>
          </a:bodyPr>
          <a:lstStyle/>
          <a:p>
            <a:pPr algn="l"/>
            <a:r>
              <a:rPr sz="900" b="0" i="0">
                <a:solidFill>
                  <a:srgbClr val="5A6778"/>
                </a:solidFill>
                <a:latin typeface="Calibri"/>
              </a:rPr>
              <a:t>weight</a:t>
            </a:r>
          </a:p>
        </p:txBody>
      </p:sp>
      <p:sp>
        <p:nvSpPr>
          <p:cNvPr id="11" name="TextBox 10"/>
          <p:cNvSpPr txBox="1"/>
          <p:nvPr/>
        </p:nvSpPr>
        <p:spPr>
          <a:xfrm>
            <a:off x="640080" y="4160520"/>
            <a:ext cx="1920240" cy="320040"/>
          </a:xfrm>
          <a:prstGeom prst="rect">
            <a:avLst/>
          </a:prstGeom>
          <a:noFill/>
        </p:spPr>
        <p:txBody>
          <a:bodyPr wrap="square" anchor="t" lIns="0" rIns="0" tIns="0" bIns="0">
            <a:spAutoFit/>
          </a:bodyPr>
          <a:lstStyle/>
          <a:p>
            <a:pPr algn="l"/>
            <a:r>
              <a:rPr sz="2000" b="1" i="0">
                <a:solidFill>
                  <a:srgbClr val="0E7CBE"/>
                </a:solidFill>
                <a:latin typeface="Calibri"/>
              </a:rPr>
              <a:t>0.40</a:t>
            </a:r>
          </a:p>
        </p:txBody>
      </p:sp>
      <p:sp>
        <p:nvSpPr>
          <p:cNvPr id="12" name="Rounded Rectangle 11"/>
          <p:cNvSpPr/>
          <p:nvPr/>
        </p:nvSpPr>
        <p:spPr>
          <a:xfrm>
            <a:off x="2788920" y="2194560"/>
            <a:ext cx="2194560" cy="2286000"/>
          </a:xfrm>
          <a:prstGeom prst="roundRect">
            <a:avLst>
              <a:gd name="adj" fmla="val 7000"/>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88920" y="2194560"/>
            <a:ext cx="219456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0" y="2286000"/>
            <a:ext cx="1920240" cy="365760"/>
          </a:xfrm>
          <a:prstGeom prst="rect">
            <a:avLst/>
          </a:prstGeom>
          <a:noFill/>
        </p:spPr>
        <p:txBody>
          <a:bodyPr wrap="square" anchor="t" lIns="0" rIns="0" tIns="0" bIns="0">
            <a:spAutoFit/>
          </a:bodyPr>
          <a:lstStyle/>
          <a:p>
            <a:pPr algn="l"/>
            <a:r>
              <a:rPr sz="1400" b="1" i="0">
                <a:solidFill>
                  <a:srgbClr val="FFFFFF"/>
                </a:solidFill>
                <a:latin typeface="Calibri"/>
              </a:rPr>
              <a:t>Log-linear</a:t>
            </a:r>
          </a:p>
        </p:txBody>
      </p:sp>
      <p:sp>
        <p:nvSpPr>
          <p:cNvPr id="15" name="TextBox 14"/>
          <p:cNvSpPr txBox="1"/>
          <p:nvPr/>
        </p:nvSpPr>
        <p:spPr>
          <a:xfrm>
            <a:off x="2926080" y="2788920"/>
            <a:ext cx="1920240" cy="320040"/>
          </a:xfrm>
          <a:prstGeom prst="rect">
            <a:avLst/>
          </a:prstGeom>
          <a:noFill/>
        </p:spPr>
        <p:txBody>
          <a:bodyPr wrap="square" anchor="t" lIns="0" rIns="0" tIns="0" bIns="0">
            <a:spAutoFit/>
          </a:bodyPr>
          <a:lstStyle/>
          <a:p>
            <a:pPr algn="l"/>
            <a:r>
              <a:rPr sz="900" b="1" i="0">
                <a:solidFill>
                  <a:srgbClr val="5A6778"/>
                </a:solidFill>
                <a:latin typeface="Calibri"/>
              </a:rPr>
              <a:t>CROSS-CHECK</a:t>
            </a:r>
          </a:p>
        </p:txBody>
      </p:sp>
      <p:sp>
        <p:nvSpPr>
          <p:cNvPr id="16" name="TextBox 15"/>
          <p:cNvSpPr txBox="1"/>
          <p:nvPr/>
        </p:nvSpPr>
        <p:spPr>
          <a:xfrm>
            <a:off x="2926080" y="3108960"/>
            <a:ext cx="1920240" cy="731520"/>
          </a:xfrm>
          <a:prstGeom prst="rect">
            <a:avLst/>
          </a:prstGeom>
          <a:noFill/>
        </p:spPr>
        <p:txBody>
          <a:bodyPr wrap="square" anchor="t" lIns="0" rIns="0" tIns="0" bIns="0">
            <a:spAutoFit/>
          </a:bodyPr>
          <a:lstStyle/>
          <a:p>
            <a:pPr algn="l"/>
            <a:r>
              <a:rPr sz="1200" b="0" i="0">
                <a:solidFill>
                  <a:srgbClr val="1A202C"/>
                </a:solidFill>
                <a:latin typeface="Calibri"/>
              </a:rPr>
              <a:t>OLS on unconstrained
subset</a:t>
            </a:r>
          </a:p>
        </p:txBody>
      </p:sp>
      <p:sp>
        <p:nvSpPr>
          <p:cNvPr id="17" name="TextBox 16"/>
          <p:cNvSpPr txBox="1"/>
          <p:nvPr/>
        </p:nvSpPr>
        <p:spPr>
          <a:xfrm>
            <a:off x="2926080" y="4023360"/>
            <a:ext cx="1920240" cy="274320"/>
          </a:xfrm>
          <a:prstGeom prst="rect">
            <a:avLst/>
          </a:prstGeom>
          <a:noFill/>
        </p:spPr>
        <p:txBody>
          <a:bodyPr wrap="square" anchor="t" lIns="0" rIns="0" tIns="0" bIns="0">
            <a:spAutoFit/>
          </a:bodyPr>
          <a:lstStyle/>
          <a:p>
            <a:pPr algn="l"/>
            <a:r>
              <a:rPr sz="900" b="0" i="0">
                <a:solidFill>
                  <a:srgbClr val="5A6778"/>
                </a:solidFill>
                <a:latin typeface="Calibri"/>
              </a:rPr>
              <a:t>weight</a:t>
            </a:r>
          </a:p>
        </p:txBody>
      </p:sp>
      <p:sp>
        <p:nvSpPr>
          <p:cNvPr id="18" name="TextBox 17"/>
          <p:cNvSpPr txBox="1"/>
          <p:nvPr/>
        </p:nvSpPr>
        <p:spPr>
          <a:xfrm>
            <a:off x="2926080" y="4160520"/>
            <a:ext cx="1920240" cy="320040"/>
          </a:xfrm>
          <a:prstGeom prst="rect">
            <a:avLst/>
          </a:prstGeom>
          <a:noFill/>
        </p:spPr>
        <p:txBody>
          <a:bodyPr wrap="square" anchor="t" lIns="0" rIns="0" tIns="0" bIns="0">
            <a:spAutoFit/>
          </a:bodyPr>
          <a:lstStyle/>
          <a:p>
            <a:pPr algn="l"/>
            <a:r>
              <a:rPr sz="2000" b="1" i="0">
                <a:solidFill>
                  <a:srgbClr val="10B981"/>
                </a:solidFill>
                <a:latin typeface="Calibri"/>
              </a:rPr>
              <a:t>0.18</a:t>
            </a:r>
          </a:p>
        </p:txBody>
      </p:sp>
      <p:sp>
        <p:nvSpPr>
          <p:cNvPr id="19" name="Rounded Rectangle 18"/>
          <p:cNvSpPr/>
          <p:nvPr/>
        </p:nvSpPr>
        <p:spPr>
          <a:xfrm>
            <a:off x="5074920" y="2194560"/>
            <a:ext cx="2194560" cy="2286000"/>
          </a:xfrm>
          <a:prstGeom prst="roundRect">
            <a:avLst>
              <a:gd name="adj" fmla="val 7000"/>
            </a:avLst>
          </a:prstGeom>
          <a:solidFill>
            <a:srgbClr val="FFFF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74920" y="2194560"/>
            <a:ext cx="2194560" cy="4572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0" y="2286000"/>
            <a:ext cx="1920240" cy="365760"/>
          </a:xfrm>
          <a:prstGeom prst="rect">
            <a:avLst/>
          </a:prstGeom>
          <a:noFill/>
        </p:spPr>
        <p:txBody>
          <a:bodyPr wrap="square" anchor="t" lIns="0" rIns="0" tIns="0" bIns="0">
            <a:spAutoFit/>
          </a:bodyPr>
          <a:lstStyle/>
          <a:p>
            <a:pPr algn="l"/>
            <a:r>
              <a:rPr sz="1400" b="1" i="0">
                <a:solidFill>
                  <a:srgbClr val="FFFFFF"/>
                </a:solidFill>
                <a:latin typeface="Calibri"/>
              </a:rPr>
              <a:t>Tobit MLE</a:t>
            </a:r>
          </a:p>
        </p:txBody>
      </p:sp>
      <p:sp>
        <p:nvSpPr>
          <p:cNvPr id="22" name="TextBox 21"/>
          <p:cNvSpPr txBox="1"/>
          <p:nvPr/>
        </p:nvSpPr>
        <p:spPr>
          <a:xfrm>
            <a:off x="5212080" y="2788920"/>
            <a:ext cx="1920240" cy="320040"/>
          </a:xfrm>
          <a:prstGeom prst="rect">
            <a:avLst/>
          </a:prstGeom>
          <a:noFill/>
        </p:spPr>
        <p:txBody>
          <a:bodyPr wrap="square" anchor="t" lIns="0" rIns="0" tIns="0" bIns="0">
            <a:spAutoFit/>
          </a:bodyPr>
          <a:lstStyle/>
          <a:p>
            <a:pPr algn="l"/>
            <a:r>
              <a:rPr sz="900" b="1" i="0">
                <a:solidFill>
                  <a:srgbClr val="5A6778"/>
                </a:solidFill>
                <a:latin typeface="Calibri"/>
              </a:rPr>
              <a:t>CROSS-CHECK</a:t>
            </a:r>
          </a:p>
        </p:txBody>
      </p:sp>
      <p:sp>
        <p:nvSpPr>
          <p:cNvPr id="23" name="TextBox 22"/>
          <p:cNvSpPr txBox="1"/>
          <p:nvPr/>
        </p:nvSpPr>
        <p:spPr>
          <a:xfrm>
            <a:off x="5212080" y="3108960"/>
            <a:ext cx="1920240" cy="731520"/>
          </a:xfrm>
          <a:prstGeom prst="rect">
            <a:avLst/>
          </a:prstGeom>
          <a:noFill/>
        </p:spPr>
        <p:txBody>
          <a:bodyPr wrap="square" anchor="t" lIns="0" rIns="0" tIns="0" bIns="0">
            <a:spAutoFit/>
          </a:bodyPr>
          <a:lstStyle/>
          <a:p>
            <a:pPr algn="l"/>
            <a:r>
              <a:rPr sz="1200" b="0" i="0">
                <a:solidFill>
                  <a:srgbClr val="1A202C"/>
                </a:solidFill>
                <a:latin typeface="Calibri"/>
              </a:rPr>
              <a:t>Tobin 1958 censored
likelihood</a:t>
            </a:r>
          </a:p>
        </p:txBody>
      </p:sp>
      <p:sp>
        <p:nvSpPr>
          <p:cNvPr id="24" name="TextBox 23"/>
          <p:cNvSpPr txBox="1"/>
          <p:nvPr/>
        </p:nvSpPr>
        <p:spPr>
          <a:xfrm>
            <a:off x="5212080" y="4023360"/>
            <a:ext cx="1920240" cy="274320"/>
          </a:xfrm>
          <a:prstGeom prst="rect">
            <a:avLst/>
          </a:prstGeom>
          <a:noFill/>
        </p:spPr>
        <p:txBody>
          <a:bodyPr wrap="square" anchor="t" lIns="0" rIns="0" tIns="0" bIns="0">
            <a:spAutoFit/>
          </a:bodyPr>
          <a:lstStyle/>
          <a:p>
            <a:pPr algn="l"/>
            <a:r>
              <a:rPr sz="900" b="0" i="0">
                <a:solidFill>
                  <a:srgbClr val="5A6778"/>
                </a:solidFill>
                <a:latin typeface="Calibri"/>
              </a:rPr>
              <a:t>weight</a:t>
            </a:r>
          </a:p>
        </p:txBody>
      </p:sp>
      <p:sp>
        <p:nvSpPr>
          <p:cNvPr id="25" name="TextBox 24"/>
          <p:cNvSpPr txBox="1"/>
          <p:nvPr/>
        </p:nvSpPr>
        <p:spPr>
          <a:xfrm>
            <a:off x="5212080" y="4160520"/>
            <a:ext cx="1920240" cy="320040"/>
          </a:xfrm>
          <a:prstGeom prst="rect">
            <a:avLst/>
          </a:prstGeom>
          <a:noFill/>
        </p:spPr>
        <p:txBody>
          <a:bodyPr wrap="square" anchor="t" lIns="0" rIns="0" tIns="0" bIns="0">
            <a:spAutoFit/>
          </a:bodyPr>
          <a:lstStyle/>
          <a:p>
            <a:pPr algn="l"/>
            <a:r>
              <a:rPr sz="2000" b="1" i="0">
                <a:solidFill>
                  <a:srgbClr val="14B8A6"/>
                </a:solidFill>
                <a:latin typeface="Calibri"/>
              </a:rPr>
              <a:t>0.18</a:t>
            </a:r>
          </a:p>
        </p:txBody>
      </p:sp>
      <p:sp>
        <p:nvSpPr>
          <p:cNvPr id="26" name="Rounded Rectangle 25"/>
          <p:cNvSpPr/>
          <p:nvPr/>
        </p:nvSpPr>
        <p:spPr>
          <a:xfrm>
            <a:off x="7360920" y="2194560"/>
            <a:ext cx="2194560" cy="2286000"/>
          </a:xfrm>
          <a:prstGeom prst="roundRect">
            <a:avLst>
              <a:gd name="adj" fmla="val 7000"/>
            </a:avLst>
          </a:prstGeom>
          <a:solidFill>
            <a:srgbClr val="FFFFFF"/>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60920" y="2194560"/>
            <a:ext cx="2194560" cy="4572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0" y="2286000"/>
            <a:ext cx="1920240" cy="365760"/>
          </a:xfrm>
          <a:prstGeom prst="rect">
            <a:avLst/>
          </a:prstGeom>
          <a:noFill/>
        </p:spPr>
        <p:txBody>
          <a:bodyPr wrap="square" anchor="t" lIns="0" rIns="0" tIns="0" bIns="0">
            <a:spAutoFit/>
          </a:bodyPr>
          <a:lstStyle/>
          <a:p>
            <a:pPr algn="l"/>
            <a:r>
              <a:rPr sz="1400" b="1" i="0">
                <a:solidFill>
                  <a:srgbClr val="FFFFFF"/>
                </a:solidFill>
                <a:latin typeface="Calibri"/>
              </a:rPr>
              <a:t>Stochastic Frontier</a:t>
            </a:r>
          </a:p>
        </p:txBody>
      </p:sp>
      <p:sp>
        <p:nvSpPr>
          <p:cNvPr id="29" name="TextBox 28"/>
          <p:cNvSpPr txBox="1"/>
          <p:nvPr/>
        </p:nvSpPr>
        <p:spPr>
          <a:xfrm>
            <a:off x="7498080" y="2788920"/>
            <a:ext cx="1920240" cy="320040"/>
          </a:xfrm>
          <a:prstGeom prst="rect">
            <a:avLst/>
          </a:prstGeom>
          <a:noFill/>
        </p:spPr>
        <p:txBody>
          <a:bodyPr wrap="square" anchor="t" lIns="0" rIns="0" tIns="0" bIns="0">
            <a:spAutoFit/>
          </a:bodyPr>
          <a:lstStyle/>
          <a:p>
            <a:pPr algn="l"/>
            <a:r>
              <a:rPr sz="900" b="1" i="0">
                <a:solidFill>
                  <a:srgbClr val="5A6778"/>
                </a:solidFill>
                <a:latin typeface="Calibri"/>
              </a:rPr>
              <a:t>CROSS-CHECK</a:t>
            </a:r>
          </a:p>
        </p:txBody>
      </p:sp>
      <p:sp>
        <p:nvSpPr>
          <p:cNvPr id="30" name="TextBox 29"/>
          <p:cNvSpPr txBox="1"/>
          <p:nvPr/>
        </p:nvSpPr>
        <p:spPr>
          <a:xfrm>
            <a:off x="7498080" y="3108960"/>
            <a:ext cx="1920240" cy="731520"/>
          </a:xfrm>
          <a:prstGeom prst="rect">
            <a:avLst/>
          </a:prstGeom>
          <a:noFill/>
        </p:spPr>
        <p:txBody>
          <a:bodyPr wrap="square" anchor="t" lIns="0" rIns="0" tIns="0" bIns="0">
            <a:spAutoFit/>
          </a:bodyPr>
          <a:lstStyle/>
          <a:p>
            <a:pPr algn="l"/>
            <a:r>
              <a:rPr sz="1200" b="0" i="0">
                <a:solidFill>
                  <a:srgbClr val="1A202C"/>
                </a:solidFill>
                <a:latin typeface="Calibri"/>
              </a:rPr>
              <a:t>Aigner-Lovell-Schmidt
half-normal</a:t>
            </a:r>
          </a:p>
        </p:txBody>
      </p:sp>
      <p:sp>
        <p:nvSpPr>
          <p:cNvPr id="31" name="TextBox 30"/>
          <p:cNvSpPr txBox="1"/>
          <p:nvPr/>
        </p:nvSpPr>
        <p:spPr>
          <a:xfrm>
            <a:off x="7498080" y="4023360"/>
            <a:ext cx="1920240" cy="274320"/>
          </a:xfrm>
          <a:prstGeom prst="rect">
            <a:avLst/>
          </a:prstGeom>
          <a:noFill/>
        </p:spPr>
        <p:txBody>
          <a:bodyPr wrap="square" anchor="t" lIns="0" rIns="0" tIns="0" bIns="0">
            <a:spAutoFit/>
          </a:bodyPr>
          <a:lstStyle/>
          <a:p>
            <a:pPr algn="l"/>
            <a:r>
              <a:rPr sz="900" b="0" i="0">
                <a:solidFill>
                  <a:srgbClr val="5A6778"/>
                </a:solidFill>
                <a:latin typeface="Calibri"/>
              </a:rPr>
              <a:t>weight</a:t>
            </a:r>
          </a:p>
        </p:txBody>
      </p:sp>
      <p:sp>
        <p:nvSpPr>
          <p:cNvPr id="32" name="TextBox 31"/>
          <p:cNvSpPr txBox="1"/>
          <p:nvPr/>
        </p:nvSpPr>
        <p:spPr>
          <a:xfrm>
            <a:off x="7498080" y="4160520"/>
            <a:ext cx="1920240" cy="320040"/>
          </a:xfrm>
          <a:prstGeom prst="rect">
            <a:avLst/>
          </a:prstGeom>
          <a:noFill/>
        </p:spPr>
        <p:txBody>
          <a:bodyPr wrap="square" anchor="t" lIns="0" rIns="0" tIns="0" bIns="0">
            <a:spAutoFit/>
          </a:bodyPr>
          <a:lstStyle/>
          <a:p>
            <a:pPr algn="l"/>
            <a:r>
              <a:rPr sz="2000" b="1" i="0">
                <a:solidFill>
                  <a:srgbClr val="F97316"/>
                </a:solidFill>
                <a:latin typeface="Calibri"/>
              </a:rPr>
              <a:t>0.16</a:t>
            </a:r>
          </a:p>
        </p:txBody>
      </p:sp>
      <p:sp>
        <p:nvSpPr>
          <p:cNvPr id="33" name="Rounded Rectangle 32"/>
          <p:cNvSpPr/>
          <p:nvPr/>
        </p:nvSpPr>
        <p:spPr>
          <a:xfrm>
            <a:off x="9646920" y="2194560"/>
            <a:ext cx="2194560" cy="2286000"/>
          </a:xfrm>
          <a:prstGeom prst="roundRect">
            <a:avLst>
              <a:gd name="adj" fmla="val 7000"/>
            </a:avLst>
          </a:prstGeom>
          <a:solidFill>
            <a:srgbClr val="FFFFFF"/>
          </a:solidFill>
          <a:ln w="25400">
            <a:solidFill>
              <a:srgbClr val="5A67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46920" y="2194560"/>
            <a:ext cx="2194560" cy="457200"/>
          </a:xfrm>
          <a:prstGeom prst="rect">
            <a:avLst/>
          </a:prstGeom>
          <a:solidFill>
            <a:srgbClr val="5A6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2286000"/>
            <a:ext cx="1920240" cy="365760"/>
          </a:xfrm>
          <a:prstGeom prst="rect">
            <a:avLst/>
          </a:prstGeom>
          <a:noFill/>
        </p:spPr>
        <p:txBody>
          <a:bodyPr wrap="square" anchor="t" lIns="0" rIns="0" tIns="0" bIns="0">
            <a:spAutoFit/>
          </a:bodyPr>
          <a:lstStyle/>
          <a:p>
            <a:pPr algn="l"/>
            <a:r>
              <a:rPr sz="1400" b="1" i="0">
                <a:solidFill>
                  <a:srgbClr val="FFFFFF"/>
                </a:solidFill>
                <a:latin typeface="Calibri"/>
              </a:rPr>
              <a:t>Phase-3 formula</a:t>
            </a:r>
          </a:p>
        </p:txBody>
      </p:sp>
      <p:sp>
        <p:nvSpPr>
          <p:cNvPr id="36" name="TextBox 35"/>
          <p:cNvSpPr txBox="1"/>
          <p:nvPr/>
        </p:nvSpPr>
        <p:spPr>
          <a:xfrm>
            <a:off x="9784080" y="2788920"/>
            <a:ext cx="1920240" cy="320040"/>
          </a:xfrm>
          <a:prstGeom prst="rect">
            <a:avLst/>
          </a:prstGeom>
          <a:noFill/>
        </p:spPr>
        <p:txBody>
          <a:bodyPr wrap="square" anchor="t" lIns="0" rIns="0" tIns="0" bIns="0">
            <a:spAutoFit/>
          </a:bodyPr>
          <a:lstStyle/>
          <a:p>
            <a:pPr algn="l"/>
            <a:r>
              <a:rPr sz="900" b="1" i="0">
                <a:solidFill>
                  <a:srgbClr val="5A6778"/>
                </a:solidFill>
                <a:latin typeface="Calibri"/>
              </a:rPr>
              <a:t>CROSS-CHECK</a:t>
            </a:r>
          </a:p>
        </p:txBody>
      </p:sp>
      <p:sp>
        <p:nvSpPr>
          <p:cNvPr id="37" name="TextBox 36"/>
          <p:cNvSpPr txBox="1"/>
          <p:nvPr/>
        </p:nvSpPr>
        <p:spPr>
          <a:xfrm>
            <a:off x="9784080" y="3108960"/>
            <a:ext cx="1920240" cy="731520"/>
          </a:xfrm>
          <a:prstGeom prst="rect">
            <a:avLst/>
          </a:prstGeom>
          <a:noFill/>
        </p:spPr>
        <p:txBody>
          <a:bodyPr wrap="square" anchor="t" lIns="0" rIns="0" tIns="0" bIns="0">
            <a:spAutoFit/>
          </a:bodyPr>
          <a:lstStyle/>
          <a:p>
            <a:pPr algn="l"/>
            <a:r>
              <a:rPr sz="1200" b="0" i="0">
                <a:solidFill>
                  <a:srgbClr val="1A202C"/>
                </a:solidFill>
                <a:latin typeface="Calibri"/>
              </a:rPr>
              <a:t>Interpretable business
benchmark</a:t>
            </a:r>
          </a:p>
        </p:txBody>
      </p:sp>
      <p:sp>
        <p:nvSpPr>
          <p:cNvPr id="38" name="TextBox 37"/>
          <p:cNvSpPr txBox="1"/>
          <p:nvPr/>
        </p:nvSpPr>
        <p:spPr>
          <a:xfrm>
            <a:off x="9784080" y="4023360"/>
            <a:ext cx="1920240" cy="274320"/>
          </a:xfrm>
          <a:prstGeom prst="rect">
            <a:avLst/>
          </a:prstGeom>
          <a:noFill/>
        </p:spPr>
        <p:txBody>
          <a:bodyPr wrap="square" anchor="t" lIns="0" rIns="0" tIns="0" bIns="0">
            <a:spAutoFit/>
          </a:bodyPr>
          <a:lstStyle/>
          <a:p>
            <a:pPr algn="l"/>
            <a:r>
              <a:rPr sz="900" b="0" i="0">
                <a:solidFill>
                  <a:srgbClr val="5A6778"/>
                </a:solidFill>
                <a:latin typeface="Calibri"/>
              </a:rPr>
              <a:t>weight</a:t>
            </a:r>
          </a:p>
        </p:txBody>
      </p:sp>
      <p:sp>
        <p:nvSpPr>
          <p:cNvPr id="39" name="TextBox 38"/>
          <p:cNvSpPr txBox="1"/>
          <p:nvPr/>
        </p:nvSpPr>
        <p:spPr>
          <a:xfrm>
            <a:off x="9784080" y="4160520"/>
            <a:ext cx="1920240" cy="320040"/>
          </a:xfrm>
          <a:prstGeom prst="rect">
            <a:avLst/>
          </a:prstGeom>
          <a:noFill/>
        </p:spPr>
        <p:txBody>
          <a:bodyPr wrap="square" anchor="t" lIns="0" rIns="0" tIns="0" bIns="0">
            <a:spAutoFit/>
          </a:bodyPr>
          <a:lstStyle/>
          <a:p>
            <a:pPr algn="l"/>
            <a:r>
              <a:rPr sz="2000" b="1" i="0">
                <a:solidFill>
                  <a:srgbClr val="5A6778"/>
                </a:solidFill>
                <a:latin typeface="Calibri"/>
              </a:rPr>
              <a:t>0.08</a:t>
            </a:r>
          </a:p>
        </p:txBody>
      </p:sp>
      <p:sp>
        <p:nvSpPr>
          <p:cNvPr id="40" name="Rectangle 39"/>
          <p:cNvSpPr/>
          <p:nvPr/>
        </p:nvSpPr>
        <p:spPr>
          <a:xfrm>
            <a:off x="502920" y="4846320"/>
            <a:ext cx="11155680" cy="10972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4983480"/>
            <a:ext cx="10515600" cy="457200"/>
          </a:xfrm>
          <a:prstGeom prst="rect">
            <a:avLst/>
          </a:prstGeom>
          <a:noFill/>
        </p:spPr>
        <p:txBody>
          <a:bodyPr wrap="square" anchor="t" lIns="0" rIns="0" tIns="0" bIns="0">
            <a:spAutoFit/>
          </a:bodyPr>
          <a:lstStyle/>
          <a:p>
            <a:pPr algn="l"/>
            <a:r>
              <a:rPr sz="1400" b="1" i="0">
                <a:solidFill>
                  <a:srgbClr val="0E3F6E"/>
                </a:solidFill>
                <a:latin typeface="Calibri"/>
              </a:rPr>
              <a:t>Pairwise Spearman ρ — all five rank the outlets the same way</a:t>
            </a:r>
          </a:p>
        </p:txBody>
      </p:sp>
      <p:sp>
        <p:nvSpPr>
          <p:cNvPr id="42" name="TextBox 41"/>
          <p:cNvSpPr txBox="1"/>
          <p:nvPr/>
        </p:nvSpPr>
        <p:spPr>
          <a:xfrm>
            <a:off x="777240" y="5303520"/>
            <a:ext cx="10515600" cy="640080"/>
          </a:xfrm>
          <a:prstGeom prst="rect">
            <a:avLst/>
          </a:prstGeom>
          <a:noFill/>
        </p:spPr>
        <p:txBody>
          <a:bodyPr wrap="square" anchor="t" lIns="0" rIns="0" tIns="0" bIns="0">
            <a:spAutoFit/>
          </a:bodyPr>
          <a:lstStyle/>
          <a:p>
            <a:pPr algn="l"/>
            <a:r>
              <a:rPr sz="1400" b="0" i="0">
                <a:solidFill>
                  <a:srgbClr val="1A202C"/>
                </a:solidFill>
                <a:latin typeface="Calibri"/>
              </a:rPr>
              <a:t>peer vs log-linear 0.86  ·  peer vs Tobit 0.84  ·  peer vs SFA 0.85  ·  peer vs Phase-3 0.84  ·  log-linear vs Tobit 0.92</a:t>
            </a:r>
          </a:p>
        </p:txBody>
      </p:sp>
      <p:sp>
        <p:nvSpPr>
          <p:cNvPr id="43" name="TextBox 42"/>
          <p:cNvSpPr txBox="1"/>
          <p:nvPr/>
        </p:nvSpPr>
        <p:spPr>
          <a:xfrm>
            <a:off x="502920" y="6080760"/>
            <a:ext cx="11155680" cy="365760"/>
          </a:xfrm>
          <a:prstGeom prst="rect">
            <a:avLst/>
          </a:prstGeom>
          <a:noFill/>
        </p:spPr>
        <p:txBody>
          <a:bodyPr wrap="square" anchor="t" lIns="0" rIns="0" tIns="0" bIns="0">
            <a:spAutoFit/>
          </a:bodyPr>
          <a:lstStyle/>
          <a:p>
            <a:pPr algn="l"/>
            <a:r>
              <a:rPr sz="1200" b="0" i="1">
                <a:solidFill>
                  <a:srgbClr val="5A6778"/>
                </a:solidFill>
                <a:latin typeface="Calibri"/>
              </a:rPr>
              <a:t>No supervised ML. Training on V would reproduce V's censoring. Five independent textbook methods converge on the same ranking.</a:t>
            </a:r>
          </a:p>
        </p:txBody>
      </p:sp>
      <p:sp>
        <p:nvSpPr>
          <p:cNvPr id="44" name="TextBox 43"/>
          <p:cNvSpPr txBox="1"/>
          <p:nvPr/>
        </p:nvSpPr>
        <p:spPr>
          <a:xfrm>
            <a:off x="10515600" y="6492240"/>
            <a:ext cx="1463040" cy="274320"/>
          </a:xfrm>
          <a:prstGeom prst="rect">
            <a:avLst/>
          </a:prstGeom>
          <a:noFill/>
        </p:spPr>
        <p:txBody>
          <a:bodyPr wrap="square" anchor="t" lIns="0" rIns="0" tIns="0" bIns="0">
            <a:spAutoFit/>
          </a:bodyPr>
          <a:lstStyle/>
          <a:p>
            <a:pPr algn="r"/>
            <a:r>
              <a:rPr sz="1000" b="0" i="0">
                <a:solidFill>
                  <a:srgbClr val="5A6778"/>
                </a:solidFill>
                <a:latin typeface="Calibri"/>
              </a:rPr>
              <a:t>3 / 10</a:t>
            </a:r>
          </a:p>
        </p:txBody>
      </p:sp>
      <p:sp>
        <p:nvSpPr>
          <p:cNvPr id="45" name="TextBox 44"/>
          <p:cNvSpPr txBox="1"/>
          <p:nvPr/>
        </p:nvSpPr>
        <p:spPr>
          <a:xfrm>
            <a:off x="502920" y="6492240"/>
            <a:ext cx="7315200" cy="274320"/>
          </a:xfrm>
          <a:prstGeom prst="rect">
            <a:avLst/>
          </a:prstGeom>
          <a:noFill/>
        </p:spPr>
        <p:txBody>
          <a:bodyPr wrap="square" anchor="t" lIns="0" rIns="0" tIns="0" bIns="0">
            <a:spAutoFit/>
          </a:bodyPr>
          <a:lstStyle/>
          <a:p>
            <a:pPr algn="l"/>
            <a:r>
              <a:rPr sz="1000" b="0" i="0">
                <a:solidFill>
                  <a:srgbClr val="5A6778"/>
                </a:solidFill>
                <a:latin typeface="Calibri"/>
              </a:rPr>
              <a:t>Our framework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3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430000" cy="365760"/>
          </a:xfrm>
          <a:prstGeom prst="rect">
            <a:avLst/>
          </a:prstGeom>
          <a:noFill/>
        </p:spPr>
        <p:txBody>
          <a:bodyPr wrap="square" anchor="t" lIns="0" rIns="0" tIns="0" bIns="0">
            <a:spAutoFit/>
          </a:bodyPr>
          <a:lstStyle/>
          <a:p>
            <a:pPr algn="l"/>
            <a:r>
              <a:rPr sz="1100" b="1" i="0">
                <a:solidFill>
                  <a:srgbClr val="0E7CBE"/>
                </a:solidFill>
                <a:latin typeface="Calibri"/>
              </a:rPr>
              <a:t>03 · SPATIAL INTELLIGENCE</a:t>
            </a:r>
          </a:p>
        </p:txBody>
      </p:sp>
      <p:sp>
        <p:nvSpPr>
          <p:cNvPr id="4" name="TextBox 3"/>
          <p:cNvSpPr txBox="1"/>
          <p:nvPr/>
        </p:nvSpPr>
        <p:spPr>
          <a:xfrm>
            <a:off x="502920" y="777240"/>
            <a:ext cx="11430000" cy="777240"/>
          </a:xfrm>
          <a:prstGeom prst="rect">
            <a:avLst/>
          </a:prstGeom>
          <a:noFill/>
        </p:spPr>
        <p:txBody>
          <a:bodyPr wrap="square" anchor="t" lIns="0" rIns="0" tIns="0" bIns="0">
            <a:spAutoFit/>
          </a:bodyPr>
          <a:lstStyle/>
          <a:p>
            <a:pPr algn="l"/>
            <a:r>
              <a:rPr sz="3200" b="1" i="0">
                <a:solidFill>
                  <a:srgbClr val="0E3F6E"/>
                </a:solidFill>
                <a:latin typeface="Calibri"/>
              </a:rPr>
              <a:t>43,000 POIs — distance-decay, not flat counts</a:t>
            </a:r>
          </a:p>
        </p:txBody>
      </p:sp>
      <p:sp>
        <p:nvSpPr>
          <p:cNvPr id="5" name="TextBox 4"/>
          <p:cNvSpPr txBox="1"/>
          <p:nvPr/>
        </p:nvSpPr>
        <p:spPr>
          <a:xfrm>
            <a:off x="502920" y="2011680"/>
            <a:ext cx="5486400" cy="365760"/>
          </a:xfrm>
          <a:prstGeom prst="rect">
            <a:avLst/>
          </a:prstGeom>
          <a:noFill/>
        </p:spPr>
        <p:txBody>
          <a:bodyPr wrap="square" anchor="t" lIns="0" rIns="0" tIns="0" bIns="0">
            <a:spAutoFit/>
          </a:bodyPr>
          <a:lstStyle/>
          <a:p>
            <a:pPr algn="l"/>
            <a:r>
              <a:rPr sz="1200" b="1" i="0">
                <a:solidFill>
                  <a:srgbClr val="0E7CBE"/>
                </a:solidFill>
                <a:latin typeface="Calibri"/>
              </a:rPr>
              <a:t>9 SEMANTIC CATEGORIES</a:t>
            </a:r>
          </a:p>
        </p:txBody>
      </p:sp>
      <p:sp>
        <p:nvSpPr>
          <p:cNvPr id="6" name="Rounded Rectangle 5"/>
          <p:cNvSpPr/>
          <p:nvPr/>
        </p:nvSpPr>
        <p:spPr>
          <a:xfrm>
            <a:off x="502920" y="2423160"/>
            <a:ext cx="1828800" cy="777240"/>
          </a:xfrm>
          <a:prstGeom prst="roundRect">
            <a:avLst>
              <a:gd name="adj" fmla="val 18000"/>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514600"/>
            <a:ext cx="1554480" cy="365760"/>
          </a:xfrm>
          <a:prstGeom prst="rect">
            <a:avLst/>
          </a:prstGeom>
          <a:noFill/>
        </p:spPr>
        <p:txBody>
          <a:bodyPr wrap="square" anchor="t" lIns="0" rIns="0" tIns="0" bIns="0">
            <a:spAutoFit/>
          </a:bodyPr>
          <a:lstStyle/>
          <a:p>
            <a:pPr algn="l"/>
            <a:r>
              <a:rPr sz="1300" b="1" i="0">
                <a:solidFill>
                  <a:srgbClr val="0E3F6E"/>
                </a:solidFill>
                <a:latin typeface="Calibri"/>
              </a:rPr>
              <a:t>Footfall</a:t>
            </a:r>
          </a:p>
        </p:txBody>
      </p:sp>
      <p:sp>
        <p:nvSpPr>
          <p:cNvPr id="8" name="TextBox 7"/>
          <p:cNvSpPr txBox="1"/>
          <p:nvPr/>
        </p:nvSpPr>
        <p:spPr>
          <a:xfrm>
            <a:off x="640080" y="2834640"/>
            <a:ext cx="1554480" cy="320040"/>
          </a:xfrm>
          <a:prstGeom prst="rect">
            <a:avLst/>
          </a:prstGeom>
          <a:noFill/>
        </p:spPr>
        <p:txBody>
          <a:bodyPr wrap="square" anchor="t" lIns="0" rIns="0" tIns="0" bIns="0">
            <a:spAutoFit/>
          </a:bodyPr>
          <a:lstStyle/>
          <a:p>
            <a:pPr algn="l"/>
            <a:r>
              <a:rPr sz="1100" b="0" i="0">
                <a:solidFill>
                  <a:srgbClr val="5A6778"/>
                </a:solidFill>
                <a:latin typeface="Calibri"/>
              </a:rPr>
              <a:t>σ 150m</a:t>
            </a:r>
          </a:p>
        </p:txBody>
      </p:sp>
      <p:sp>
        <p:nvSpPr>
          <p:cNvPr id="9" name="Rounded Rectangle 8"/>
          <p:cNvSpPr/>
          <p:nvPr/>
        </p:nvSpPr>
        <p:spPr>
          <a:xfrm>
            <a:off x="2423160" y="2423160"/>
            <a:ext cx="1828800" cy="777240"/>
          </a:xfrm>
          <a:prstGeom prst="roundRect">
            <a:avLst>
              <a:gd name="adj" fmla="val 18000"/>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0" y="2514600"/>
            <a:ext cx="1554480" cy="365760"/>
          </a:xfrm>
          <a:prstGeom prst="rect">
            <a:avLst/>
          </a:prstGeom>
          <a:noFill/>
        </p:spPr>
        <p:txBody>
          <a:bodyPr wrap="square" anchor="t" lIns="0" rIns="0" tIns="0" bIns="0">
            <a:spAutoFit/>
          </a:bodyPr>
          <a:lstStyle/>
          <a:p>
            <a:pPr algn="l"/>
            <a:r>
              <a:rPr sz="1300" b="1" i="0">
                <a:solidFill>
                  <a:srgbClr val="0E3F6E"/>
                </a:solidFill>
                <a:latin typeface="Calibri"/>
              </a:rPr>
              <a:t>School</a:t>
            </a:r>
          </a:p>
        </p:txBody>
      </p:sp>
      <p:sp>
        <p:nvSpPr>
          <p:cNvPr id="11" name="TextBox 10"/>
          <p:cNvSpPr txBox="1"/>
          <p:nvPr/>
        </p:nvSpPr>
        <p:spPr>
          <a:xfrm>
            <a:off x="2560320" y="2834640"/>
            <a:ext cx="1554480" cy="320040"/>
          </a:xfrm>
          <a:prstGeom prst="rect">
            <a:avLst/>
          </a:prstGeom>
          <a:noFill/>
        </p:spPr>
        <p:txBody>
          <a:bodyPr wrap="square" anchor="t" lIns="0" rIns="0" tIns="0" bIns="0">
            <a:spAutoFit/>
          </a:bodyPr>
          <a:lstStyle/>
          <a:p>
            <a:pPr algn="l"/>
            <a:r>
              <a:rPr sz="1100" b="0" i="0">
                <a:solidFill>
                  <a:srgbClr val="5A6778"/>
                </a:solidFill>
                <a:latin typeface="Calibri"/>
              </a:rPr>
              <a:t>σ 400m</a:t>
            </a:r>
          </a:p>
        </p:txBody>
      </p:sp>
      <p:sp>
        <p:nvSpPr>
          <p:cNvPr id="12" name="Rounded Rectangle 11"/>
          <p:cNvSpPr/>
          <p:nvPr/>
        </p:nvSpPr>
        <p:spPr>
          <a:xfrm>
            <a:off x="4343400" y="2423160"/>
            <a:ext cx="1828800" cy="777240"/>
          </a:xfrm>
          <a:prstGeom prst="roundRect">
            <a:avLst>
              <a:gd name="adj" fmla="val 18000"/>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2514600"/>
            <a:ext cx="1554480" cy="365760"/>
          </a:xfrm>
          <a:prstGeom prst="rect">
            <a:avLst/>
          </a:prstGeom>
          <a:noFill/>
        </p:spPr>
        <p:txBody>
          <a:bodyPr wrap="square" anchor="t" lIns="0" rIns="0" tIns="0" bIns="0">
            <a:spAutoFit/>
          </a:bodyPr>
          <a:lstStyle/>
          <a:p>
            <a:pPr algn="l"/>
            <a:r>
              <a:rPr sz="1300" b="1" i="0">
                <a:solidFill>
                  <a:srgbClr val="0E3F6E"/>
                </a:solidFill>
                <a:latin typeface="Calibri"/>
              </a:rPr>
              <a:t>Tourist</a:t>
            </a:r>
          </a:p>
        </p:txBody>
      </p:sp>
      <p:sp>
        <p:nvSpPr>
          <p:cNvPr id="14" name="TextBox 13"/>
          <p:cNvSpPr txBox="1"/>
          <p:nvPr/>
        </p:nvSpPr>
        <p:spPr>
          <a:xfrm>
            <a:off x="4480560" y="2834640"/>
            <a:ext cx="1554480" cy="320040"/>
          </a:xfrm>
          <a:prstGeom prst="rect">
            <a:avLst/>
          </a:prstGeom>
          <a:noFill/>
        </p:spPr>
        <p:txBody>
          <a:bodyPr wrap="square" anchor="t" lIns="0" rIns="0" tIns="0" bIns="0">
            <a:spAutoFit/>
          </a:bodyPr>
          <a:lstStyle/>
          <a:p>
            <a:pPr algn="l"/>
            <a:r>
              <a:rPr sz="1100" b="0" i="0">
                <a:solidFill>
                  <a:srgbClr val="5A6778"/>
                </a:solidFill>
                <a:latin typeface="Calibri"/>
              </a:rPr>
              <a:t>σ 1km</a:t>
            </a:r>
          </a:p>
        </p:txBody>
      </p:sp>
      <p:sp>
        <p:nvSpPr>
          <p:cNvPr id="15" name="Rounded Rectangle 14"/>
          <p:cNvSpPr/>
          <p:nvPr/>
        </p:nvSpPr>
        <p:spPr>
          <a:xfrm>
            <a:off x="502920" y="3291840"/>
            <a:ext cx="1828800" cy="777240"/>
          </a:xfrm>
          <a:prstGeom prst="roundRect">
            <a:avLst>
              <a:gd name="adj" fmla="val 18000"/>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383280"/>
            <a:ext cx="1554480" cy="365760"/>
          </a:xfrm>
          <a:prstGeom prst="rect">
            <a:avLst/>
          </a:prstGeom>
          <a:noFill/>
        </p:spPr>
        <p:txBody>
          <a:bodyPr wrap="square" anchor="t" lIns="0" rIns="0" tIns="0" bIns="0">
            <a:spAutoFit/>
          </a:bodyPr>
          <a:lstStyle/>
          <a:p>
            <a:pPr algn="l"/>
            <a:r>
              <a:rPr sz="1300" b="1" i="0">
                <a:solidFill>
                  <a:srgbClr val="0E3F6E"/>
                </a:solidFill>
                <a:latin typeface="Calibri"/>
              </a:rPr>
              <a:t>Health</a:t>
            </a:r>
          </a:p>
        </p:txBody>
      </p:sp>
      <p:sp>
        <p:nvSpPr>
          <p:cNvPr id="17" name="TextBox 16"/>
          <p:cNvSpPr txBox="1"/>
          <p:nvPr/>
        </p:nvSpPr>
        <p:spPr>
          <a:xfrm>
            <a:off x="640080" y="3703320"/>
            <a:ext cx="1554480" cy="320040"/>
          </a:xfrm>
          <a:prstGeom prst="rect">
            <a:avLst/>
          </a:prstGeom>
          <a:noFill/>
        </p:spPr>
        <p:txBody>
          <a:bodyPr wrap="square" anchor="t" lIns="0" rIns="0" tIns="0" bIns="0">
            <a:spAutoFit/>
          </a:bodyPr>
          <a:lstStyle/>
          <a:p>
            <a:pPr algn="l"/>
            <a:r>
              <a:rPr sz="1100" b="0" i="0">
                <a:solidFill>
                  <a:srgbClr val="5A6778"/>
                </a:solidFill>
                <a:latin typeface="Calibri"/>
              </a:rPr>
              <a:t>σ 400m</a:t>
            </a:r>
          </a:p>
        </p:txBody>
      </p:sp>
      <p:sp>
        <p:nvSpPr>
          <p:cNvPr id="18" name="Rounded Rectangle 17"/>
          <p:cNvSpPr/>
          <p:nvPr/>
        </p:nvSpPr>
        <p:spPr>
          <a:xfrm>
            <a:off x="2423160" y="3291840"/>
            <a:ext cx="1828800" cy="777240"/>
          </a:xfrm>
          <a:prstGeom prst="roundRect">
            <a:avLst>
              <a:gd name="adj" fmla="val 18000"/>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60320" y="3383280"/>
            <a:ext cx="1554480" cy="365760"/>
          </a:xfrm>
          <a:prstGeom prst="rect">
            <a:avLst/>
          </a:prstGeom>
          <a:noFill/>
        </p:spPr>
        <p:txBody>
          <a:bodyPr wrap="square" anchor="t" lIns="0" rIns="0" tIns="0" bIns="0">
            <a:spAutoFit/>
          </a:bodyPr>
          <a:lstStyle/>
          <a:p>
            <a:pPr algn="l"/>
            <a:r>
              <a:rPr sz="1300" b="1" i="0">
                <a:solidFill>
                  <a:srgbClr val="0E3F6E"/>
                </a:solidFill>
                <a:latin typeface="Calibri"/>
              </a:rPr>
              <a:t>Worship</a:t>
            </a:r>
          </a:p>
        </p:txBody>
      </p:sp>
      <p:sp>
        <p:nvSpPr>
          <p:cNvPr id="20" name="TextBox 19"/>
          <p:cNvSpPr txBox="1"/>
          <p:nvPr/>
        </p:nvSpPr>
        <p:spPr>
          <a:xfrm>
            <a:off x="2560320" y="3703320"/>
            <a:ext cx="1554480" cy="320040"/>
          </a:xfrm>
          <a:prstGeom prst="rect">
            <a:avLst/>
          </a:prstGeom>
          <a:noFill/>
        </p:spPr>
        <p:txBody>
          <a:bodyPr wrap="square" anchor="t" lIns="0" rIns="0" tIns="0" bIns="0">
            <a:spAutoFit/>
          </a:bodyPr>
          <a:lstStyle/>
          <a:p>
            <a:pPr algn="l"/>
            <a:r>
              <a:rPr sz="1100" b="0" i="0">
                <a:solidFill>
                  <a:srgbClr val="5A6778"/>
                </a:solidFill>
                <a:latin typeface="Calibri"/>
              </a:rPr>
              <a:t>σ 300m</a:t>
            </a:r>
          </a:p>
        </p:txBody>
      </p:sp>
      <p:sp>
        <p:nvSpPr>
          <p:cNvPr id="21" name="Rounded Rectangle 20"/>
          <p:cNvSpPr/>
          <p:nvPr/>
        </p:nvSpPr>
        <p:spPr>
          <a:xfrm>
            <a:off x="4343400" y="3291840"/>
            <a:ext cx="1828800" cy="777240"/>
          </a:xfrm>
          <a:prstGeom prst="roundRect">
            <a:avLst>
              <a:gd name="adj" fmla="val 18000"/>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60" y="3383280"/>
            <a:ext cx="1554480" cy="365760"/>
          </a:xfrm>
          <a:prstGeom prst="rect">
            <a:avLst/>
          </a:prstGeom>
          <a:noFill/>
        </p:spPr>
        <p:txBody>
          <a:bodyPr wrap="square" anchor="t" lIns="0" rIns="0" tIns="0" bIns="0">
            <a:spAutoFit/>
          </a:bodyPr>
          <a:lstStyle/>
          <a:p>
            <a:pPr algn="l"/>
            <a:r>
              <a:rPr sz="1300" b="1" i="0">
                <a:solidFill>
                  <a:srgbClr val="0E3F6E"/>
                </a:solidFill>
                <a:latin typeface="Calibri"/>
              </a:rPr>
              <a:t>Food service</a:t>
            </a:r>
          </a:p>
        </p:txBody>
      </p:sp>
      <p:sp>
        <p:nvSpPr>
          <p:cNvPr id="23" name="TextBox 22"/>
          <p:cNvSpPr txBox="1"/>
          <p:nvPr/>
        </p:nvSpPr>
        <p:spPr>
          <a:xfrm>
            <a:off x="4480560" y="3703320"/>
            <a:ext cx="1554480" cy="320040"/>
          </a:xfrm>
          <a:prstGeom prst="rect">
            <a:avLst/>
          </a:prstGeom>
          <a:noFill/>
        </p:spPr>
        <p:txBody>
          <a:bodyPr wrap="square" anchor="t" lIns="0" rIns="0" tIns="0" bIns="0">
            <a:spAutoFit/>
          </a:bodyPr>
          <a:lstStyle/>
          <a:p>
            <a:pPr algn="l"/>
            <a:r>
              <a:rPr sz="1100" b="0" i="0">
                <a:solidFill>
                  <a:srgbClr val="5A6778"/>
                </a:solidFill>
                <a:latin typeface="Calibri"/>
              </a:rPr>
              <a:t>σ 150m</a:t>
            </a:r>
          </a:p>
        </p:txBody>
      </p:sp>
      <p:sp>
        <p:nvSpPr>
          <p:cNvPr id="24" name="Rounded Rectangle 23"/>
          <p:cNvSpPr/>
          <p:nvPr/>
        </p:nvSpPr>
        <p:spPr>
          <a:xfrm>
            <a:off x="502920" y="4160520"/>
            <a:ext cx="1828800" cy="777240"/>
          </a:xfrm>
          <a:prstGeom prst="roundRect">
            <a:avLst>
              <a:gd name="adj" fmla="val 18000"/>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251960"/>
            <a:ext cx="1554480" cy="365760"/>
          </a:xfrm>
          <a:prstGeom prst="rect">
            <a:avLst/>
          </a:prstGeom>
          <a:noFill/>
        </p:spPr>
        <p:txBody>
          <a:bodyPr wrap="square" anchor="t" lIns="0" rIns="0" tIns="0" bIns="0">
            <a:spAutoFit/>
          </a:bodyPr>
          <a:lstStyle/>
          <a:p>
            <a:pPr algn="l"/>
            <a:r>
              <a:rPr sz="1300" b="1" i="0">
                <a:solidFill>
                  <a:srgbClr val="0E3F6E"/>
                </a:solidFill>
                <a:latin typeface="Calibri"/>
              </a:rPr>
              <a:t>Leisure &amp; rec</a:t>
            </a:r>
          </a:p>
        </p:txBody>
      </p:sp>
      <p:sp>
        <p:nvSpPr>
          <p:cNvPr id="26" name="TextBox 25"/>
          <p:cNvSpPr txBox="1"/>
          <p:nvPr/>
        </p:nvSpPr>
        <p:spPr>
          <a:xfrm>
            <a:off x="640080" y="4572000"/>
            <a:ext cx="1554480" cy="320040"/>
          </a:xfrm>
          <a:prstGeom prst="rect">
            <a:avLst/>
          </a:prstGeom>
          <a:noFill/>
        </p:spPr>
        <p:txBody>
          <a:bodyPr wrap="square" anchor="t" lIns="0" rIns="0" tIns="0" bIns="0">
            <a:spAutoFit/>
          </a:bodyPr>
          <a:lstStyle/>
          <a:p>
            <a:pPr algn="l"/>
            <a:r>
              <a:rPr sz="1100" b="0" i="0">
                <a:solidFill>
                  <a:srgbClr val="5A6778"/>
                </a:solidFill>
                <a:latin typeface="Calibri"/>
              </a:rPr>
              <a:t>σ 500m</a:t>
            </a:r>
          </a:p>
        </p:txBody>
      </p:sp>
      <p:sp>
        <p:nvSpPr>
          <p:cNvPr id="27" name="Rounded Rectangle 26"/>
          <p:cNvSpPr/>
          <p:nvPr/>
        </p:nvSpPr>
        <p:spPr>
          <a:xfrm>
            <a:off x="2423160" y="4160520"/>
            <a:ext cx="1828800" cy="777240"/>
          </a:xfrm>
          <a:prstGeom prst="roundRect">
            <a:avLst>
              <a:gd name="adj" fmla="val 18000"/>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60320" y="4251960"/>
            <a:ext cx="1554480" cy="365760"/>
          </a:xfrm>
          <a:prstGeom prst="rect">
            <a:avLst/>
          </a:prstGeom>
          <a:noFill/>
        </p:spPr>
        <p:txBody>
          <a:bodyPr wrap="square" anchor="t" lIns="0" rIns="0" tIns="0" bIns="0">
            <a:spAutoFit/>
          </a:bodyPr>
          <a:lstStyle/>
          <a:p>
            <a:pPr algn="l"/>
            <a:r>
              <a:rPr sz="1300" b="1" i="0">
                <a:solidFill>
                  <a:srgbClr val="0E3F6E"/>
                </a:solidFill>
                <a:latin typeface="Calibri"/>
              </a:rPr>
              <a:t>Population</a:t>
            </a:r>
          </a:p>
        </p:txBody>
      </p:sp>
      <p:sp>
        <p:nvSpPr>
          <p:cNvPr id="29" name="TextBox 28"/>
          <p:cNvSpPr txBox="1"/>
          <p:nvPr/>
        </p:nvSpPr>
        <p:spPr>
          <a:xfrm>
            <a:off x="2560320" y="4572000"/>
            <a:ext cx="1554480" cy="320040"/>
          </a:xfrm>
          <a:prstGeom prst="rect">
            <a:avLst/>
          </a:prstGeom>
          <a:noFill/>
        </p:spPr>
        <p:txBody>
          <a:bodyPr wrap="square" anchor="t" lIns="0" rIns="0" tIns="0" bIns="0">
            <a:spAutoFit/>
          </a:bodyPr>
          <a:lstStyle/>
          <a:p>
            <a:pPr algn="l"/>
            <a:r>
              <a:rPr sz="1100" b="0" i="0">
                <a:solidFill>
                  <a:srgbClr val="5A6778"/>
                </a:solidFill>
                <a:latin typeface="Calibri"/>
              </a:rPr>
              <a:t>σ 600m</a:t>
            </a:r>
          </a:p>
        </p:txBody>
      </p:sp>
      <p:sp>
        <p:nvSpPr>
          <p:cNvPr id="30" name="Rounded Rectangle 29"/>
          <p:cNvSpPr/>
          <p:nvPr/>
        </p:nvSpPr>
        <p:spPr>
          <a:xfrm>
            <a:off x="4343400" y="4160520"/>
            <a:ext cx="1828800" cy="777240"/>
          </a:xfrm>
          <a:prstGeom prst="roundRect">
            <a:avLst>
              <a:gd name="adj" fmla="val 18000"/>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0560" y="4251960"/>
            <a:ext cx="1554480" cy="365760"/>
          </a:xfrm>
          <a:prstGeom prst="rect">
            <a:avLst/>
          </a:prstGeom>
          <a:noFill/>
        </p:spPr>
        <p:txBody>
          <a:bodyPr wrap="square" anchor="t" lIns="0" rIns="0" tIns="0" bIns="0">
            <a:spAutoFit/>
          </a:bodyPr>
          <a:lstStyle/>
          <a:p>
            <a:pPr algn="l"/>
            <a:r>
              <a:rPr sz="1300" b="1" i="0">
                <a:solidFill>
                  <a:srgbClr val="0E3F6E"/>
                </a:solidFill>
                <a:latin typeface="Calibri"/>
              </a:rPr>
              <a:t>Competitor</a:t>
            </a:r>
          </a:p>
        </p:txBody>
      </p:sp>
      <p:sp>
        <p:nvSpPr>
          <p:cNvPr id="32" name="TextBox 31"/>
          <p:cNvSpPr txBox="1"/>
          <p:nvPr/>
        </p:nvSpPr>
        <p:spPr>
          <a:xfrm>
            <a:off x="4480560" y="4572000"/>
            <a:ext cx="1554480" cy="320040"/>
          </a:xfrm>
          <a:prstGeom prst="rect">
            <a:avLst/>
          </a:prstGeom>
          <a:noFill/>
        </p:spPr>
        <p:txBody>
          <a:bodyPr wrap="square" anchor="t" lIns="0" rIns="0" tIns="0" bIns="0">
            <a:spAutoFit/>
          </a:bodyPr>
          <a:lstStyle/>
          <a:p>
            <a:pPr algn="l"/>
            <a:r>
              <a:rPr sz="1100" b="0" i="0">
                <a:solidFill>
                  <a:srgbClr val="5A6778"/>
                </a:solidFill>
                <a:latin typeface="Calibri"/>
              </a:rPr>
              <a:t>gravity</a:t>
            </a:r>
          </a:p>
        </p:txBody>
      </p:sp>
      <p:sp>
        <p:nvSpPr>
          <p:cNvPr id="33" name="TextBox 32"/>
          <p:cNvSpPr txBox="1"/>
          <p:nvPr/>
        </p:nvSpPr>
        <p:spPr>
          <a:xfrm>
            <a:off x="6766560" y="2011680"/>
            <a:ext cx="4937760" cy="365760"/>
          </a:xfrm>
          <a:prstGeom prst="rect">
            <a:avLst/>
          </a:prstGeom>
          <a:noFill/>
        </p:spPr>
        <p:txBody>
          <a:bodyPr wrap="square" anchor="t" lIns="0" rIns="0" tIns="0" bIns="0">
            <a:spAutoFit/>
          </a:bodyPr>
          <a:lstStyle/>
          <a:p>
            <a:pPr algn="l"/>
            <a:r>
              <a:rPr sz="1200" b="1" i="0">
                <a:solidFill>
                  <a:srgbClr val="0E7CBE"/>
                </a:solidFill>
                <a:latin typeface="Calibri"/>
              </a:rPr>
              <a:t>MARKET STRUCTURE (NON-LINEAR)</a:t>
            </a:r>
          </a:p>
        </p:txBody>
      </p:sp>
      <p:sp>
        <p:nvSpPr>
          <p:cNvPr id="34" name="Rounded Rectangle 33"/>
          <p:cNvSpPr/>
          <p:nvPr/>
        </p:nvSpPr>
        <p:spPr>
          <a:xfrm>
            <a:off x="6766560" y="2423160"/>
            <a:ext cx="4937760" cy="914400"/>
          </a:xfrm>
          <a:prstGeom prst="roundRect">
            <a:avLst>
              <a:gd name="adj" fmla="val 8000"/>
            </a:avLst>
          </a:prstGeom>
          <a:solidFill>
            <a:srgbClr val="FFFFFF"/>
          </a:solidFill>
          <a:ln w="9525">
            <a:solidFill>
              <a:srgbClr val="CB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03720" y="2514600"/>
            <a:ext cx="4663440" cy="274320"/>
          </a:xfrm>
          <a:prstGeom prst="rect">
            <a:avLst/>
          </a:prstGeom>
          <a:noFill/>
        </p:spPr>
        <p:txBody>
          <a:bodyPr wrap="square" anchor="t" lIns="0" rIns="0" tIns="0" bIns="0">
            <a:spAutoFit/>
          </a:bodyPr>
          <a:lstStyle/>
          <a:p>
            <a:pPr algn="l"/>
            <a:r>
              <a:rPr sz="1000" b="1" i="0">
                <a:solidFill>
                  <a:srgbClr val="5A6778"/>
                </a:solidFill>
                <a:latin typeface="Calibri"/>
              </a:rPr>
              <a:t>HHI · WESTERN PROVINCE (fragmented)</a:t>
            </a:r>
          </a:p>
        </p:txBody>
      </p:sp>
      <p:sp>
        <p:nvSpPr>
          <p:cNvPr id="36" name="TextBox 35"/>
          <p:cNvSpPr txBox="1"/>
          <p:nvPr/>
        </p:nvSpPr>
        <p:spPr>
          <a:xfrm>
            <a:off x="6903720" y="2788920"/>
            <a:ext cx="4663440" cy="457200"/>
          </a:xfrm>
          <a:prstGeom prst="rect">
            <a:avLst/>
          </a:prstGeom>
          <a:noFill/>
        </p:spPr>
        <p:txBody>
          <a:bodyPr wrap="square" anchor="t" lIns="0" rIns="0" tIns="0" bIns="0">
            <a:spAutoFit/>
          </a:bodyPr>
          <a:lstStyle/>
          <a:p>
            <a:pPr algn="l"/>
            <a:r>
              <a:rPr sz="2200" b="1" i="0">
                <a:solidFill>
                  <a:srgbClr val="10B981"/>
                </a:solidFill>
                <a:latin typeface="Calibri"/>
              </a:rPr>
              <a:t>1,101</a:t>
            </a:r>
          </a:p>
        </p:txBody>
      </p:sp>
      <p:sp>
        <p:nvSpPr>
          <p:cNvPr id="37" name="Rounded Rectangle 36"/>
          <p:cNvSpPr/>
          <p:nvPr/>
        </p:nvSpPr>
        <p:spPr>
          <a:xfrm>
            <a:off x="6766560" y="3429000"/>
            <a:ext cx="4937760" cy="914400"/>
          </a:xfrm>
          <a:prstGeom prst="roundRect">
            <a:avLst>
              <a:gd name="adj" fmla="val 8000"/>
            </a:avLst>
          </a:prstGeom>
          <a:solidFill>
            <a:srgbClr val="FFFFFF"/>
          </a:solidFill>
          <a:ln w="9525">
            <a:solidFill>
              <a:srgbClr val="CB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03720" y="3520440"/>
            <a:ext cx="4663440" cy="274320"/>
          </a:xfrm>
          <a:prstGeom prst="rect">
            <a:avLst/>
          </a:prstGeom>
          <a:noFill/>
        </p:spPr>
        <p:txBody>
          <a:bodyPr wrap="square" anchor="t" lIns="0" rIns="0" tIns="0" bIns="0">
            <a:spAutoFit/>
          </a:bodyPr>
          <a:lstStyle/>
          <a:p>
            <a:pPr algn="l"/>
            <a:r>
              <a:rPr sz="1000" b="1" i="0">
                <a:solidFill>
                  <a:srgbClr val="5A6778"/>
                </a:solidFill>
                <a:latin typeface="Calibri"/>
              </a:rPr>
              <a:t>HHI · NORTH-WESTERN (concentrated)</a:t>
            </a:r>
          </a:p>
        </p:txBody>
      </p:sp>
      <p:sp>
        <p:nvSpPr>
          <p:cNvPr id="39" name="TextBox 38"/>
          <p:cNvSpPr txBox="1"/>
          <p:nvPr/>
        </p:nvSpPr>
        <p:spPr>
          <a:xfrm>
            <a:off x="6903720" y="3794760"/>
            <a:ext cx="4663440" cy="457200"/>
          </a:xfrm>
          <a:prstGeom prst="rect">
            <a:avLst/>
          </a:prstGeom>
          <a:noFill/>
        </p:spPr>
        <p:txBody>
          <a:bodyPr wrap="square" anchor="t" lIns="0" rIns="0" tIns="0" bIns="0">
            <a:spAutoFit/>
          </a:bodyPr>
          <a:lstStyle/>
          <a:p>
            <a:pPr algn="l"/>
            <a:r>
              <a:rPr sz="2200" b="1" i="0">
                <a:solidFill>
                  <a:srgbClr val="F97316"/>
                </a:solidFill>
                <a:latin typeface="Calibri"/>
              </a:rPr>
              <a:t>4,319</a:t>
            </a:r>
          </a:p>
        </p:txBody>
      </p:sp>
      <p:sp>
        <p:nvSpPr>
          <p:cNvPr id="40" name="Rounded Rectangle 39"/>
          <p:cNvSpPr/>
          <p:nvPr/>
        </p:nvSpPr>
        <p:spPr>
          <a:xfrm>
            <a:off x="6766560" y="4434840"/>
            <a:ext cx="4937760" cy="914400"/>
          </a:xfrm>
          <a:prstGeom prst="roundRect">
            <a:avLst>
              <a:gd name="adj" fmla="val 8000"/>
            </a:avLst>
          </a:prstGeom>
          <a:solidFill>
            <a:srgbClr val="FFFFFF"/>
          </a:solidFill>
          <a:ln w="9525">
            <a:solidFill>
              <a:srgbClr val="CB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03720" y="4526280"/>
            <a:ext cx="4663440" cy="274320"/>
          </a:xfrm>
          <a:prstGeom prst="rect">
            <a:avLst/>
          </a:prstGeom>
          <a:noFill/>
        </p:spPr>
        <p:txBody>
          <a:bodyPr wrap="square" anchor="t" lIns="0" rIns="0" tIns="0" bIns="0">
            <a:spAutoFit/>
          </a:bodyPr>
          <a:lstStyle/>
          <a:p>
            <a:pPr algn="l"/>
            <a:r>
              <a:rPr sz="1000" b="1" i="0">
                <a:solidFill>
                  <a:srgbClr val="5A6778"/>
                </a:solidFill>
                <a:latin typeface="Calibri"/>
              </a:rPr>
              <a:t>TYPE-WEIGHTED COMPETITION PRESSURE</a:t>
            </a:r>
          </a:p>
        </p:txBody>
      </p:sp>
      <p:sp>
        <p:nvSpPr>
          <p:cNvPr id="42" name="TextBox 41"/>
          <p:cNvSpPr txBox="1"/>
          <p:nvPr/>
        </p:nvSpPr>
        <p:spPr>
          <a:xfrm>
            <a:off x="6903720" y="4800600"/>
            <a:ext cx="4663440" cy="457200"/>
          </a:xfrm>
          <a:prstGeom prst="rect">
            <a:avLst/>
          </a:prstGeom>
          <a:noFill/>
        </p:spPr>
        <p:txBody>
          <a:bodyPr wrap="square" anchor="t" lIns="0" rIns="0" tIns="0" bIns="0">
            <a:spAutoFit/>
          </a:bodyPr>
          <a:lstStyle/>
          <a:p>
            <a:pPr algn="l"/>
            <a:r>
              <a:rPr sz="2200" b="1" i="0">
                <a:solidFill>
                  <a:srgbClr val="0E3F6E"/>
                </a:solidFill>
                <a:latin typeface="Calibri"/>
              </a:rPr>
              <a:t>Grocery × Grocery = 1.0</a:t>
            </a:r>
          </a:p>
        </p:txBody>
      </p:sp>
      <p:sp>
        <p:nvSpPr>
          <p:cNvPr id="43" name="Rectangle 42"/>
          <p:cNvSpPr/>
          <p:nvPr/>
        </p:nvSpPr>
        <p:spPr>
          <a:xfrm>
            <a:off x="502920" y="5989320"/>
            <a:ext cx="11155680" cy="411480"/>
          </a:xfrm>
          <a:prstGeom prst="rect">
            <a:avLst/>
          </a:prstGeom>
          <a:solidFill>
            <a:srgbClr val="0E3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6035040"/>
            <a:ext cx="10972800" cy="365760"/>
          </a:xfrm>
          <a:prstGeom prst="rect">
            <a:avLst/>
          </a:prstGeom>
          <a:noFill/>
        </p:spPr>
        <p:txBody>
          <a:bodyPr wrap="square" anchor="t" lIns="0" rIns="0" tIns="0" bIns="0">
            <a:spAutoFit/>
          </a:bodyPr>
          <a:lstStyle/>
          <a:p>
            <a:pPr algn="l"/>
            <a:r>
              <a:rPr sz="1300" b="1" i="0">
                <a:solidFill>
                  <a:srgbClr val="FFFFFF"/>
                </a:solidFill>
                <a:latin typeface="Calibri"/>
              </a:rPr>
              <a:t>A bus stop 20 m away is not the same as one 400 m away. Gaussian decay for demand drivers, gravity decay for competitors.</a:t>
            </a:r>
          </a:p>
        </p:txBody>
      </p:sp>
      <p:sp>
        <p:nvSpPr>
          <p:cNvPr id="45" name="TextBox 44"/>
          <p:cNvSpPr txBox="1"/>
          <p:nvPr/>
        </p:nvSpPr>
        <p:spPr>
          <a:xfrm>
            <a:off x="10515600" y="6492240"/>
            <a:ext cx="1463040" cy="274320"/>
          </a:xfrm>
          <a:prstGeom prst="rect">
            <a:avLst/>
          </a:prstGeom>
          <a:noFill/>
        </p:spPr>
        <p:txBody>
          <a:bodyPr wrap="square" anchor="t" lIns="0" rIns="0" tIns="0" bIns="0">
            <a:spAutoFit/>
          </a:bodyPr>
          <a:lstStyle/>
          <a:p>
            <a:pPr algn="r"/>
            <a:r>
              <a:rPr sz="1000" b="0" i="0">
                <a:solidFill>
                  <a:srgbClr val="5A6778"/>
                </a:solidFill>
                <a:latin typeface="Calibri"/>
              </a:rPr>
              <a:t>4 / 10</a:t>
            </a:r>
          </a:p>
        </p:txBody>
      </p:sp>
      <p:sp>
        <p:nvSpPr>
          <p:cNvPr id="46" name="TextBox 45"/>
          <p:cNvSpPr txBox="1"/>
          <p:nvPr/>
        </p:nvSpPr>
        <p:spPr>
          <a:xfrm>
            <a:off x="502920" y="6492240"/>
            <a:ext cx="7315200" cy="274320"/>
          </a:xfrm>
          <a:prstGeom prst="rect">
            <a:avLst/>
          </a:prstGeom>
          <a:noFill/>
        </p:spPr>
        <p:txBody>
          <a:bodyPr wrap="square" anchor="t" lIns="0" rIns="0" tIns="0" bIns="0">
            <a:spAutoFit/>
          </a:bodyPr>
          <a:lstStyle/>
          <a:p>
            <a:pPr algn="l"/>
            <a:r>
              <a:rPr sz="1000" b="0" i="0">
                <a:solidFill>
                  <a:srgbClr val="5A6778"/>
                </a:solidFill>
                <a:latin typeface="Calibri"/>
              </a:rPr>
              <a:t>Spatial intelligence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3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430000" cy="365760"/>
          </a:xfrm>
          <a:prstGeom prst="rect">
            <a:avLst/>
          </a:prstGeom>
          <a:noFill/>
        </p:spPr>
        <p:txBody>
          <a:bodyPr wrap="square" anchor="t" lIns="0" rIns="0" tIns="0" bIns="0">
            <a:spAutoFit/>
          </a:bodyPr>
          <a:lstStyle/>
          <a:p>
            <a:pPr algn="l"/>
            <a:r>
              <a:rPr sz="1100" b="1" i="0">
                <a:solidFill>
                  <a:srgbClr val="0E7CBE"/>
                </a:solidFill>
                <a:latin typeface="Calibri"/>
              </a:rPr>
              <a:t>04 · THE HARD NUMBERS</a:t>
            </a:r>
          </a:p>
        </p:txBody>
      </p:sp>
      <p:sp>
        <p:nvSpPr>
          <p:cNvPr id="4" name="TextBox 3"/>
          <p:cNvSpPr txBox="1"/>
          <p:nvPr/>
        </p:nvSpPr>
        <p:spPr>
          <a:xfrm>
            <a:off x="502920" y="777240"/>
            <a:ext cx="11430000" cy="777240"/>
          </a:xfrm>
          <a:prstGeom prst="rect">
            <a:avLst/>
          </a:prstGeom>
          <a:noFill/>
        </p:spPr>
        <p:txBody>
          <a:bodyPr wrap="square" anchor="t" lIns="0" rIns="0" tIns="0" bIns="0">
            <a:spAutoFit/>
          </a:bodyPr>
          <a:lstStyle/>
          <a:p>
            <a:pPr algn="l"/>
            <a:r>
              <a:rPr sz="3200" b="1" i="0">
                <a:solidFill>
                  <a:srgbClr val="0E3F6E"/>
                </a:solidFill>
                <a:latin typeface="Calibri"/>
              </a:rPr>
              <a:t>How well does it actually generalise?</a:t>
            </a:r>
          </a:p>
        </p:txBody>
      </p:sp>
      <p:sp>
        <p:nvSpPr>
          <p:cNvPr id="5" name="Rounded Rectangle 4"/>
          <p:cNvSpPr/>
          <p:nvPr/>
        </p:nvSpPr>
        <p:spPr>
          <a:xfrm>
            <a:off x="502920" y="2011680"/>
            <a:ext cx="5029200" cy="1828800"/>
          </a:xfrm>
          <a:prstGeom prst="roundRect">
            <a:avLst>
              <a:gd name="adj" fmla="val 8000"/>
            </a:avLst>
          </a:prstGeom>
          <a:solidFill>
            <a:srgbClr val="FFFFFF"/>
          </a:solidFill>
          <a:ln w="9525">
            <a:solidFill>
              <a:srgbClr val="CB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103120"/>
            <a:ext cx="4754880" cy="274320"/>
          </a:xfrm>
          <a:prstGeom prst="rect">
            <a:avLst/>
          </a:prstGeom>
          <a:noFill/>
        </p:spPr>
        <p:txBody>
          <a:bodyPr wrap="square" anchor="t" lIns="0" rIns="0" tIns="0" bIns="0">
            <a:spAutoFit/>
          </a:bodyPr>
          <a:lstStyle/>
          <a:p>
            <a:pPr algn="l"/>
            <a:r>
              <a:rPr sz="1000" b="1" i="0">
                <a:solidFill>
                  <a:srgbClr val="5A6778"/>
                </a:solidFill>
                <a:latin typeface="Calibri"/>
              </a:rPr>
              <a:t>HOLD-OUT SPEARMAN ρ (Jan 2025 predicted from 2023-24 only)</a:t>
            </a:r>
          </a:p>
        </p:txBody>
      </p:sp>
      <p:sp>
        <p:nvSpPr>
          <p:cNvPr id="7" name="TextBox 6"/>
          <p:cNvSpPr txBox="1"/>
          <p:nvPr/>
        </p:nvSpPr>
        <p:spPr>
          <a:xfrm>
            <a:off x="640080" y="2377440"/>
            <a:ext cx="4754880" cy="1371600"/>
          </a:xfrm>
          <a:prstGeom prst="rect">
            <a:avLst/>
          </a:prstGeom>
          <a:noFill/>
        </p:spPr>
        <p:txBody>
          <a:bodyPr wrap="square" anchor="t" lIns="0" rIns="0" tIns="0" bIns="0">
            <a:spAutoFit/>
          </a:bodyPr>
          <a:lstStyle/>
          <a:p>
            <a:pPr algn="l"/>
            <a:r>
              <a:rPr sz="2200" b="1" i="0">
                <a:solidFill>
                  <a:srgbClr val="10B981"/>
                </a:solidFill>
                <a:latin typeface="Calibri"/>
              </a:rPr>
              <a:t>0.794</a:t>
            </a:r>
          </a:p>
        </p:txBody>
      </p:sp>
      <p:sp>
        <p:nvSpPr>
          <p:cNvPr id="8" name="TextBox 7"/>
          <p:cNvSpPr txBox="1"/>
          <p:nvPr/>
        </p:nvSpPr>
        <p:spPr>
          <a:xfrm>
            <a:off x="502920" y="3886200"/>
            <a:ext cx="5029200" cy="365760"/>
          </a:xfrm>
          <a:prstGeom prst="rect">
            <a:avLst/>
          </a:prstGeom>
          <a:noFill/>
        </p:spPr>
        <p:txBody>
          <a:bodyPr wrap="square" anchor="t" lIns="0" rIns="0" tIns="0" bIns="0">
            <a:spAutoFit/>
          </a:bodyPr>
          <a:lstStyle/>
          <a:p>
            <a:pPr algn="l"/>
            <a:r>
              <a:rPr sz="1400" b="0" i="1">
                <a:solidFill>
                  <a:srgbClr val="5A6778"/>
                </a:solidFill>
                <a:latin typeface="Calibri"/>
              </a:rPr>
              <a:t>over 11,256 evaluable outlets</a:t>
            </a:r>
          </a:p>
        </p:txBody>
      </p:sp>
      <p:sp>
        <p:nvSpPr>
          <p:cNvPr id="9" name="TextBox 8"/>
          <p:cNvSpPr txBox="1"/>
          <p:nvPr/>
        </p:nvSpPr>
        <p:spPr>
          <a:xfrm>
            <a:off x="5852160" y="2011680"/>
            <a:ext cx="5852160" cy="365760"/>
          </a:xfrm>
          <a:prstGeom prst="rect">
            <a:avLst/>
          </a:prstGeom>
          <a:noFill/>
        </p:spPr>
        <p:txBody>
          <a:bodyPr wrap="square" anchor="t" lIns="0" rIns="0" tIns="0" bIns="0">
            <a:spAutoFit/>
          </a:bodyPr>
          <a:lstStyle/>
          <a:p>
            <a:pPr algn="l"/>
            <a:r>
              <a:rPr sz="1200" b="1" i="0">
                <a:solidFill>
                  <a:srgbClr val="0E7CBE"/>
                </a:solidFill>
                <a:latin typeface="Calibri"/>
              </a:rPr>
              <a:t>SUPPORTING EVIDENCE</a:t>
            </a:r>
          </a:p>
        </p:txBody>
      </p:sp>
      <p:sp>
        <p:nvSpPr>
          <p:cNvPr id="10" name="Rectangle 9"/>
          <p:cNvSpPr/>
          <p:nvPr/>
        </p:nvSpPr>
        <p:spPr>
          <a:xfrm>
            <a:off x="5852160" y="2423160"/>
            <a:ext cx="5852160" cy="8686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2468880"/>
            <a:ext cx="5577840" cy="320040"/>
          </a:xfrm>
          <a:prstGeom prst="rect">
            <a:avLst/>
          </a:prstGeom>
          <a:noFill/>
        </p:spPr>
        <p:txBody>
          <a:bodyPr wrap="square" anchor="t" lIns="0" rIns="0" tIns="0" bIns="0">
            <a:spAutoFit/>
          </a:bodyPr>
          <a:lstStyle/>
          <a:p>
            <a:pPr algn="l"/>
            <a:r>
              <a:rPr sz="1100" b="1" i="0">
                <a:solidFill>
                  <a:srgbClr val="5A6778"/>
                </a:solidFill>
                <a:latin typeface="Calibri"/>
              </a:rPr>
              <a:t>Pairwise method agreement</a:t>
            </a:r>
          </a:p>
        </p:txBody>
      </p:sp>
      <p:sp>
        <p:nvSpPr>
          <p:cNvPr id="12" name="TextBox 11"/>
          <p:cNvSpPr txBox="1"/>
          <p:nvPr/>
        </p:nvSpPr>
        <p:spPr>
          <a:xfrm>
            <a:off x="5989320" y="2743200"/>
            <a:ext cx="5577840" cy="365760"/>
          </a:xfrm>
          <a:prstGeom prst="rect">
            <a:avLst/>
          </a:prstGeom>
          <a:noFill/>
        </p:spPr>
        <p:txBody>
          <a:bodyPr wrap="square" anchor="t" lIns="0" rIns="0" tIns="0" bIns="0">
            <a:spAutoFit/>
          </a:bodyPr>
          <a:lstStyle/>
          <a:p>
            <a:pPr algn="l"/>
            <a:r>
              <a:rPr sz="1600" b="1" i="0">
                <a:solidFill>
                  <a:srgbClr val="0E3F6E"/>
                </a:solidFill>
                <a:latin typeface="Calibri"/>
              </a:rPr>
              <a:t>all ρ ≥ 0.83</a:t>
            </a:r>
          </a:p>
        </p:txBody>
      </p:sp>
      <p:sp>
        <p:nvSpPr>
          <p:cNvPr id="13" name="TextBox 12"/>
          <p:cNvSpPr txBox="1"/>
          <p:nvPr/>
        </p:nvSpPr>
        <p:spPr>
          <a:xfrm>
            <a:off x="5989320" y="3017520"/>
            <a:ext cx="5577840" cy="274320"/>
          </a:xfrm>
          <a:prstGeom prst="rect">
            <a:avLst/>
          </a:prstGeom>
          <a:noFill/>
        </p:spPr>
        <p:txBody>
          <a:bodyPr wrap="square" anchor="t" lIns="0" rIns="0" tIns="0" bIns="0">
            <a:spAutoFit/>
          </a:bodyPr>
          <a:lstStyle/>
          <a:p>
            <a:pPr algn="l"/>
            <a:r>
              <a:rPr sz="1100" b="0" i="0">
                <a:solidFill>
                  <a:srgbClr val="1A202C"/>
                </a:solidFill>
                <a:latin typeface="Calibri"/>
              </a:rPr>
              <a:t>5-method ensemble triggered</a:t>
            </a:r>
          </a:p>
        </p:txBody>
      </p:sp>
      <p:sp>
        <p:nvSpPr>
          <p:cNvPr id="14" name="Rectangle 13"/>
          <p:cNvSpPr/>
          <p:nvPr/>
        </p:nvSpPr>
        <p:spPr>
          <a:xfrm>
            <a:off x="5852160" y="3383280"/>
            <a:ext cx="5852160" cy="8686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89320" y="3429000"/>
            <a:ext cx="5577840" cy="320040"/>
          </a:xfrm>
          <a:prstGeom prst="rect">
            <a:avLst/>
          </a:prstGeom>
          <a:noFill/>
        </p:spPr>
        <p:txBody>
          <a:bodyPr wrap="square" anchor="t" lIns="0" rIns="0" tIns="0" bIns="0">
            <a:spAutoFit/>
          </a:bodyPr>
          <a:lstStyle/>
          <a:p>
            <a:pPr algn="l"/>
            <a:r>
              <a:rPr sz="1100" b="1" i="0">
                <a:solidFill>
                  <a:srgbClr val="5A6778"/>
                </a:solidFill>
                <a:latin typeface="Calibri"/>
              </a:rPr>
              <a:t>XAI surrogate fidelity</a:t>
            </a:r>
          </a:p>
        </p:txBody>
      </p:sp>
      <p:sp>
        <p:nvSpPr>
          <p:cNvPr id="16" name="TextBox 15"/>
          <p:cNvSpPr txBox="1"/>
          <p:nvPr/>
        </p:nvSpPr>
        <p:spPr>
          <a:xfrm>
            <a:off x="5989320" y="3703320"/>
            <a:ext cx="5577840" cy="365760"/>
          </a:xfrm>
          <a:prstGeom prst="rect">
            <a:avLst/>
          </a:prstGeom>
          <a:noFill/>
        </p:spPr>
        <p:txBody>
          <a:bodyPr wrap="square" anchor="t" lIns="0" rIns="0" tIns="0" bIns="0">
            <a:spAutoFit/>
          </a:bodyPr>
          <a:lstStyle/>
          <a:p>
            <a:pPr algn="l"/>
            <a:r>
              <a:rPr sz="1600" b="1" i="0">
                <a:solidFill>
                  <a:srgbClr val="0E3F6E"/>
                </a:solidFill>
                <a:latin typeface="Calibri"/>
              </a:rPr>
              <a:t>ρ 0.97  ·  R² 0.998</a:t>
            </a:r>
          </a:p>
        </p:txBody>
      </p:sp>
      <p:sp>
        <p:nvSpPr>
          <p:cNvPr id="17" name="TextBox 16"/>
          <p:cNvSpPr txBox="1"/>
          <p:nvPr/>
        </p:nvSpPr>
        <p:spPr>
          <a:xfrm>
            <a:off x="5989320" y="3977640"/>
            <a:ext cx="5577840" cy="274320"/>
          </a:xfrm>
          <a:prstGeom prst="rect">
            <a:avLst/>
          </a:prstGeom>
          <a:noFill/>
        </p:spPr>
        <p:txBody>
          <a:bodyPr wrap="square" anchor="t" lIns="0" rIns="0" tIns="0" bIns="0">
            <a:spAutoFit/>
          </a:bodyPr>
          <a:lstStyle/>
          <a:p>
            <a:pPr algn="l"/>
            <a:r>
              <a:rPr sz="1100" b="0" i="0">
                <a:solidFill>
                  <a:srgbClr val="1A202C"/>
                </a:solidFill>
                <a:latin typeface="Calibri"/>
              </a:rPr>
              <a:t>SHAP attributions are faithful</a:t>
            </a:r>
          </a:p>
        </p:txBody>
      </p:sp>
      <p:sp>
        <p:nvSpPr>
          <p:cNvPr id="18" name="Rectangle 17"/>
          <p:cNvSpPr/>
          <p:nvPr/>
        </p:nvSpPr>
        <p:spPr>
          <a:xfrm>
            <a:off x="5852160" y="4343400"/>
            <a:ext cx="5852160" cy="8686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89320" y="4389120"/>
            <a:ext cx="5577840" cy="320040"/>
          </a:xfrm>
          <a:prstGeom prst="rect">
            <a:avLst/>
          </a:prstGeom>
          <a:noFill/>
        </p:spPr>
        <p:txBody>
          <a:bodyPr wrap="square" anchor="t" lIns="0" rIns="0" tIns="0" bIns="0">
            <a:spAutoFit/>
          </a:bodyPr>
          <a:lstStyle/>
          <a:p>
            <a:pPr algn="l"/>
            <a:r>
              <a:rPr sz="1100" b="1" i="0">
                <a:solidFill>
                  <a:srgbClr val="5A6778"/>
                </a:solidFill>
                <a:latin typeface="Calibri"/>
              </a:rPr>
              <a:t>Bit-exact reproducibility</a:t>
            </a:r>
          </a:p>
        </p:txBody>
      </p:sp>
      <p:sp>
        <p:nvSpPr>
          <p:cNvPr id="20" name="TextBox 19"/>
          <p:cNvSpPr txBox="1"/>
          <p:nvPr/>
        </p:nvSpPr>
        <p:spPr>
          <a:xfrm>
            <a:off x="5989320" y="4663440"/>
            <a:ext cx="5577840" cy="365760"/>
          </a:xfrm>
          <a:prstGeom prst="rect">
            <a:avLst/>
          </a:prstGeom>
          <a:noFill/>
        </p:spPr>
        <p:txBody>
          <a:bodyPr wrap="square" anchor="t" lIns="0" rIns="0" tIns="0" bIns="0">
            <a:spAutoFit/>
          </a:bodyPr>
          <a:lstStyle/>
          <a:p>
            <a:pPr algn="l"/>
            <a:r>
              <a:rPr sz="1600" b="1" i="0">
                <a:solidFill>
                  <a:srgbClr val="0E3F6E"/>
                </a:solidFill>
                <a:latin typeface="Calibri"/>
              </a:rPr>
              <a:t>verified</a:t>
            </a:r>
          </a:p>
        </p:txBody>
      </p:sp>
      <p:sp>
        <p:nvSpPr>
          <p:cNvPr id="21" name="TextBox 20"/>
          <p:cNvSpPr txBox="1"/>
          <p:nvPr/>
        </p:nvSpPr>
        <p:spPr>
          <a:xfrm>
            <a:off x="5989320" y="4937760"/>
            <a:ext cx="5577840" cy="274320"/>
          </a:xfrm>
          <a:prstGeom prst="rect">
            <a:avLst/>
          </a:prstGeom>
          <a:noFill/>
        </p:spPr>
        <p:txBody>
          <a:bodyPr wrap="square" anchor="t" lIns="0" rIns="0" tIns="0" bIns="0">
            <a:spAutoFit/>
          </a:bodyPr>
          <a:lstStyle/>
          <a:p>
            <a:pPr algn="l"/>
            <a:r>
              <a:rPr sz="1100" b="0" i="0">
                <a:solidFill>
                  <a:srgbClr val="1A202C"/>
                </a:solidFill>
                <a:latin typeface="Calibri"/>
              </a:rPr>
              <a:t>Fresh-clone produces identical CSV</a:t>
            </a:r>
          </a:p>
        </p:txBody>
      </p:sp>
      <p:sp>
        <p:nvSpPr>
          <p:cNvPr id="22" name="Rectangle 21"/>
          <p:cNvSpPr/>
          <p:nvPr/>
        </p:nvSpPr>
        <p:spPr>
          <a:xfrm>
            <a:off x="5852160" y="5303520"/>
            <a:ext cx="5852160" cy="86868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89320" y="5349240"/>
            <a:ext cx="5577840" cy="320040"/>
          </a:xfrm>
          <a:prstGeom prst="rect">
            <a:avLst/>
          </a:prstGeom>
          <a:noFill/>
        </p:spPr>
        <p:txBody>
          <a:bodyPr wrap="square" anchor="t" lIns="0" rIns="0" tIns="0" bIns="0">
            <a:spAutoFit/>
          </a:bodyPr>
          <a:lstStyle/>
          <a:p>
            <a:pPr algn="l"/>
            <a:r>
              <a:rPr sz="1100" b="1" i="0">
                <a:solidFill>
                  <a:srgbClr val="5A6778"/>
                </a:solidFill>
                <a:latin typeface="Calibri"/>
              </a:rPr>
              <a:t>Sanity assertions on output</a:t>
            </a:r>
          </a:p>
        </p:txBody>
      </p:sp>
      <p:sp>
        <p:nvSpPr>
          <p:cNvPr id="24" name="TextBox 23"/>
          <p:cNvSpPr txBox="1"/>
          <p:nvPr/>
        </p:nvSpPr>
        <p:spPr>
          <a:xfrm>
            <a:off x="5989320" y="5623560"/>
            <a:ext cx="5577840" cy="365760"/>
          </a:xfrm>
          <a:prstGeom prst="rect">
            <a:avLst/>
          </a:prstGeom>
          <a:noFill/>
        </p:spPr>
        <p:txBody>
          <a:bodyPr wrap="square" anchor="t" lIns="0" rIns="0" tIns="0" bIns="0">
            <a:spAutoFit/>
          </a:bodyPr>
          <a:lstStyle/>
          <a:p>
            <a:pPr algn="l"/>
            <a:r>
              <a:rPr sz="1600" b="1" i="0">
                <a:solidFill>
                  <a:srgbClr val="0E3F6E"/>
                </a:solidFill>
                <a:latin typeface="Calibri"/>
              </a:rPr>
              <a:t>all passed</a:t>
            </a:r>
          </a:p>
        </p:txBody>
      </p:sp>
      <p:sp>
        <p:nvSpPr>
          <p:cNvPr id="25" name="TextBox 24"/>
          <p:cNvSpPr txBox="1"/>
          <p:nvPr/>
        </p:nvSpPr>
        <p:spPr>
          <a:xfrm>
            <a:off x="5989320" y="5897880"/>
            <a:ext cx="5577840" cy="274320"/>
          </a:xfrm>
          <a:prstGeom prst="rect">
            <a:avLst/>
          </a:prstGeom>
          <a:noFill/>
        </p:spPr>
        <p:txBody>
          <a:bodyPr wrap="square" anchor="t" lIns="0" rIns="0" tIns="0" bIns="0">
            <a:spAutoFit/>
          </a:bodyPr>
          <a:lstStyle/>
          <a:p>
            <a:pPr algn="l"/>
            <a:r>
              <a:rPr sz="1100" b="0" i="0">
                <a:solidFill>
                  <a:srgbClr val="1A202C"/>
                </a:solidFill>
                <a:latin typeface="Calibri"/>
              </a:rPr>
              <a:t>Floors/ceilings respected</a:t>
            </a:r>
          </a:p>
        </p:txBody>
      </p:sp>
      <p:sp>
        <p:nvSpPr>
          <p:cNvPr id="26" name="TextBox 25"/>
          <p:cNvSpPr txBox="1"/>
          <p:nvPr/>
        </p:nvSpPr>
        <p:spPr>
          <a:xfrm>
            <a:off x="502920" y="6080760"/>
            <a:ext cx="11155680" cy="365760"/>
          </a:xfrm>
          <a:prstGeom prst="rect">
            <a:avLst/>
          </a:prstGeom>
          <a:noFill/>
        </p:spPr>
        <p:txBody>
          <a:bodyPr wrap="square" anchor="t" lIns="0" rIns="0" tIns="0" bIns="0">
            <a:spAutoFit/>
          </a:bodyPr>
          <a:lstStyle/>
          <a:p>
            <a:pPr algn="l"/>
            <a:r>
              <a:rPr sz="1200" b="0" i="1">
                <a:solidFill>
                  <a:srgbClr val="5A6778"/>
                </a:solidFill>
                <a:latin typeface="Calibri"/>
              </a:rPr>
              <a:t>Hold-out validation pretends Jan 2025 doesn't exist. The rank correlation against actuals is point seven nine.</a:t>
            </a:r>
          </a:p>
        </p:txBody>
      </p:sp>
      <p:sp>
        <p:nvSpPr>
          <p:cNvPr id="27" name="TextBox 26"/>
          <p:cNvSpPr txBox="1"/>
          <p:nvPr/>
        </p:nvSpPr>
        <p:spPr>
          <a:xfrm>
            <a:off x="10515600" y="6492240"/>
            <a:ext cx="1463040" cy="274320"/>
          </a:xfrm>
          <a:prstGeom prst="rect">
            <a:avLst/>
          </a:prstGeom>
          <a:noFill/>
        </p:spPr>
        <p:txBody>
          <a:bodyPr wrap="square" anchor="t" lIns="0" rIns="0" tIns="0" bIns="0">
            <a:spAutoFit/>
          </a:bodyPr>
          <a:lstStyle/>
          <a:p>
            <a:pPr algn="r"/>
            <a:r>
              <a:rPr sz="1000" b="0" i="0">
                <a:solidFill>
                  <a:srgbClr val="5A6778"/>
                </a:solidFill>
                <a:latin typeface="Calibri"/>
              </a:rPr>
              <a:t>5 / 10</a:t>
            </a:r>
          </a:p>
        </p:txBody>
      </p:sp>
      <p:sp>
        <p:nvSpPr>
          <p:cNvPr id="28" name="TextBox 27"/>
          <p:cNvSpPr txBox="1"/>
          <p:nvPr/>
        </p:nvSpPr>
        <p:spPr>
          <a:xfrm>
            <a:off x="502920" y="6492240"/>
            <a:ext cx="7315200" cy="274320"/>
          </a:xfrm>
          <a:prstGeom prst="rect">
            <a:avLst/>
          </a:prstGeom>
          <a:noFill/>
        </p:spPr>
        <p:txBody>
          <a:bodyPr wrap="square" anchor="t" lIns="0" rIns="0" tIns="0" bIns="0">
            <a:spAutoFit/>
          </a:bodyPr>
          <a:lstStyle/>
          <a:p>
            <a:pPr algn="l"/>
            <a:r>
              <a:rPr sz="1000" b="0" i="0">
                <a:solidFill>
                  <a:srgbClr val="5A6778"/>
                </a:solidFill>
                <a:latin typeface="Calibri"/>
              </a:rPr>
              <a:t>Validation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3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430000" cy="365760"/>
          </a:xfrm>
          <a:prstGeom prst="rect">
            <a:avLst/>
          </a:prstGeom>
          <a:noFill/>
        </p:spPr>
        <p:txBody>
          <a:bodyPr wrap="square" anchor="t" lIns="0" rIns="0" tIns="0" bIns="0">
            <a:spAutoFit/>
          </a:bodyPr>
          <a:lstStyle/>
          <a:p>
            <a:pPr algn="l"/>
            <a:r>
              <a:rPr sz="1100" b="1" i="0">
                <a:solidFill>
                  <a:srgbClr val="0E7CBE"/>
                </a:solidFill>
                <a:latin typeface="Calibri"/>
              </a:rPr>
              <a:t>05 · THE LKR 5 M ALLOCATION</a:t>
            </a:r>
          </a:p>
        </p:txBody>
      </p:sp>
      <p:sp>
        <p:nvSpPr>
          <p:cNvPr id="4" name="TextBox 3"/>
          <p:cNvSpPr txBox="1"/>
          <p:nvPr/>
        </p:nvSpPr>
        <p:spPr>
          <a:xfrm>
            <a:off x="502920" y="777240"/>
            <a:ext cx="11430000" cy="777240"/>
          </a:xfrm>
          <a:prstGeom prst="rect">
            <a:avLst/>
          </a:prstGeom>
          <a:noFill/>
        </p:spPr>
        <p:txBody>
          <a:bodyPr wrap="square" anchor="t" lIns="0" rIns="0" tIns="0" bIns="0">
            <a:spAutoFit/>
          </a:bodyPr>
          <a:lstStyle/>
          <a:p>
            <a:pPr algn="l"/>
            <a:r>
              <a:rPr sz="3200" b="1" i="0">
                <a:solidFill>
                  <a:srgbClr val="0E3F6E"/>
                </a:solidFill>
                <a:latin typeface="Calibri"/>
              </a:rPr>
              <a:t>Where should Western Province spend the budget?</a:t>
            </a:r>
          </a:p>
        </p:txBody>
      </p:sp>
      <p:sp>
        <p:nvSpPr>
          <p:cNvPr id="5" name="Rectangle 4"/>
          <p:cNvSpPr/>
          <p:nvPr/>
        </p:nvSpPr>
        <p:spPr>
          <a:xfrm>
            <a:off x="502920" y="2011680"/>
            <a:ext cx="11155680" cy="13716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103120"/>
            <a:ext cx="10881360" cy="365760"/>
          </a:xfrm>
          <a:prstGeom prst="rect">
            <a:avLst/>
          </a:prstGeom>
          <a:noFill/>
        </p:spPr>
        <p:txBody>
          <a:bodyPr wrap="square" anchor="t" lIns="0" rIns="0" tIns="0" bIns="0">
            <a:spAutoFit/>
          </a:bodyPr>
          <a:lstStyle/>
          <a:p>
            <a:pPr algn="l"/>
            <a:r>
              <a:rPr sz="1100" b="1" i="0">
                <a:solidFill>
                  <a:srgbClr val="0E7CBE"/>
                </a:solidFill>
                <a:latin typeface="Calibri"/>
              </a:rPr>
              <a:t>CONCAVE WATER-FILLING LP</a:t>
            </a:r>
          </a:p>
        </p:txBody>
      </p:sp>
      <p:sp>
        <p:nvSpPr>
          <p:cNvPr id="7" name="TextBox 6"/>
          <p:cNvSpPr txBox="1"/>
          <p:nvPr/>
        </p:nvSpPr>
        <p:spPr>
          <a:xfrm>
            <a:off x="640080" y="2423160"/>
            <a:ext cx="10881360" cy="457200"/>
          </a:xfrm>
          <a:prstGeom prst="rect">
            <a:avLst/>
          </a:prstGeom>
          <a:noFill/>
        </p:spPr>
        <p:txBody>
          <a:bodyPr wrap="square" anchor="t" lIns="0" rIns="0" tIns="0" bIns="0">
            <a:spAutoFit/>
          </a:bodyPr>
          <a:lstStyle/>
          <a:p>
            <a:pPr algn="ctr"/>
            <a:r>
              <a:rPr sz="1500" b="1" i="0">
                <a:solidFill>
                  <a:srgbClr val="0E3F6E"/>
                </a:solidFill>
                <a:latin typeface="Calibri"/>
              </a:rPr>
              <a:t>maximise   Σ κᵢ √( xᵢ )    subject to   Σ xᵢ ≤ 5,000,000 LKR    ·   0 ≤ xᵢ ≤ 5,000 LKR per outlet</a:t>
            </a:r>
          </a:p>
        </p:txBody>
      </p:sp>
      <p:sp>
        <p:nvSpPr>
          <p:cNvPr id="8" name="TextBox 7"/>
          <p:cNvSpPr txBox="1"/>
          <p:nvPr/>
        </p:nvSpPr>
        <p:spPr>
          <a:xfrm>
            <a:off x="640080" y="2880360"/>
            <a:ext cx="10881360" cy="365760"/>
          </a:xfrm>
          <a:prstGeom prst="rect">
            <a:avLst/>
          </a:prstGeom>
          <a:noFill/>
        </p:spPr>
        <p:txBody>
          <a:bodyPr wrap="square" anchor="t" lIns="0" rIns="0" tIns="0" bIns="0">
            <a:spAutoFit/>
          </a:bodyPr>
          <a:lstStyle/>
          <a:p>
            <a:pPr algn="ctr"/>
            <a:r>
              <a:rPr sz="1200" b="0" i="1">
                <a:solidFill>
                  <a:srgbClr val="5A6778"/>
                </a:solidFill>
                <a:latin typeface="Calibri"/>
              </a:rPr>
              <a:t>κᵢ = uplift × cooler_priority × (1 + 0.4 spatial) / (1 + 0.3 competition)</a:t>
            </a:r>
          </a:p>
        </p:txBody>
      </p:sp>
      <p:sp>
        <p:nvSpPr>
          <p:cNvPr id="9" name="Rectangle 8"/>
          <p:cNvSpPr/>
          <p:nvPr/>
        </p:nvSpPr>
        <p:spPr>
          <a:xfrm>
            <a:off x="502920" y="3657600"/>
            <a:ext cx="3566160" cy="2103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3657600"/>
            <a:ext cx="3566160" cy="36576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703320"/>
            <a:ext cx="3291840" cy="320040"/>
          </a:xfrm>
          <a:prstGeom prst="rect">
            <a:avLst/>
          </a:prstGeom>
          <a:noFill/>
        </p:spPr>
        <p:txBody>
          <a:bodyPr wrap="square" anchor="t" lIns="0" rIns="0" tIns="0" bIns="0">
            <a:spAutoFit/>
          </a:bodyPr>
          <a:lstStyle/>
          <a:p>
            <a:pPr algn="l"/>
            <a:r>
              <a:rPr sz="1400" b="1" i="0">
                <a:solidFill>
                  <a:srgbClr val="FFFFFF"/>
                </a:solidFill>
                <a:latin typeface="Calibri"/>
              </a:rPr>
              <a:t>DISCOUNT</a:t>
            </a:r>
          </a:p>
        </p:txBody>
      </p:sp>
      <p:sp>
        <p:nvSpPr>
          <p:cNvPr id="12" name="TextBox 11"/>
          <p:cNvSpPr txBox="1"/>
          <p:nvPr/>
        </p:nvSpPr>
        <p:spPr>
          <a:xfrm>
            <a:off x="640080" y="4160520"/>
            <a:ext cx="3291840" cy="640080"/>
          </a:xfrm>
          <a:prstGeom prst="rect">
            <a:avLst/>
          </a:prstGeom>
          <a:noFill/>
        </p:spPr>
        <p:txBody>
          <a:bodyPr wrap="square" anchor="t" lIns="0" rIns="0" tIns="0" bIns="0">
            <a:spAutoFit/>
          </a:bodyPr>
          <a:lstStyle/>
          <a:p>
            <a:pPr algn="l"/>
            <a:r>
              <a:rPr sz="2800" b="1" i="0">
                <a:solidFill>
                  <a:srgbClr val="0E3F6E"/>
                </a:solidFill>
                <a:latin typeface="Calibri"/>
              </a:rPr>
              <a:t>LKR 1.74 M</a:t>
            </a:r>
          </a:p>
        </p:txBody>
      </p:sp>
      <p:sp>
        <p:nvSpPr>
          <p:cNvPr id="13" name="TextBox 12"/>
          <p:cNvSpPr txBox="1"/>
          <p:nvPr/>
        </p:nvSpPr>
        <p:spPr>
          <a:xfrm>
            <a:off x="640080" y="4846320"/>
            <a:ext cx="3291840" cy="457200"/>
          </a:xfrm>
          <a:prstGeom prst="rect">
            <a:avLst/>
          </a:prstGeom>
          <a:noFill/>
        </p:spPr>
        <p:txBody>
          <a:bodyPr wrap="square" anchor="t" lIns="0" rIns="0" tIns="0" bIns="0">
            <a:spAutoFit/>
          </a:bodyPr>
          <a:lstStyle/>
          <a:p>
            <a:pPr algn="l"/>
            <a:r>
              <a:rPr sz="1300" b="0" i="0">
                <a:solidFill>
                  <a:srgbClr val="5A6778"/>
                </a:solidFill>
                <a:latin typeface="Calibri"/>
              </a:rPr>
              <a:t>share of LKR 5 M  ·  35 %</a:t>
            </a:r>
          </a:p>
        </p:txBody>
      </p:sp>
      <p:sp>
        <p:nvSpPr>
          <p:cNvPr id="14" name="Rectangle 13"/>
          <p:cNvSpPr/>
          <p:nvPr/>
        </p:nvSpPr>
        <p:spPr>
          <a:xfrm>
            <a:off x="502920" y="5715000"/>
            <a:ext cx="3566160" cy="36576"/>
          </a:xfrm>
          <a:prstGeom prst="rect">
            <a:avLst/>
          </a:prstGeom>
          <a:solidFill>
            <a:srgbClr val="CBD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51960" y="3657600"/>
            <a:ext cx="3566160" cy="2103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51960" y="3657600"/>
            <a:ext cx="3566160" cy="365760"/>
          </a:xfrm>
          <a:prstGeom prst="rect">
            <a:avLst/>
          </a:prstGeom>
          <a:solidFill>
            <a:srgbClr val="0E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3703320"/>
            <a:ext cx="3291840" cy="320040"/>
          </a:xfrm>
          <a:prstGeom prst="rect">
            <a:avLst/>
          </a:prstGeom>
          <a:noFill/>
        </p:spPr>
        <p:txBody>
          <a:bodyPr wrap="square" anchor="t" lIns="0" rIns="0" tIns="0" bIns="0">
            <a:spAutoFit/>
          </a:bodyPr>
          <a:lstStyle/>
          <a:p>
            <a:pPr algn="l"/>
            <a:r>
              <a:rPr sz="1400" b="1" i="0">
                <a:solidFill>
                  <a:srgbClr val="FFFFFF"/>
                </a:solidFill>
                <a:latin typeface="Calibri"/>
              </a:rPr>
              <a:t>MERCHANDISING</a:t>
            </a:r>
          </a:p>
        </p:txBody>
      </p:sp>
      <p:sp>
        <p:nvSpPr>
          <p:cNvPr id="18" name="TextBox 17"/>
          <p:cNvSpPr txBox="1"/>
          <p:nvPr/>
        </p:nvSpPr>
        <p:spPr>
          <a:xfrm>
            <a:off x="4389120" y="4160520"/>
            <a:ext cx="3291840" cy="640080"/>
          </a:xfrm>
          <a:prstGeom prst="rect">
            <a:avLst/>
          </a:prstGeom>
          <a:noFill/>
        </p:spPr>
        <p:txBody>
          <a:bodyPr wrap="square" anchor="t" lIns="0" rIns="0" tIns="0" bIns="0">
            <a:spAutoFit/>
          </a:bodyPr>
          <a:lstStyle/>
          <a:p>
            <a:pPr algn="l"/>
            <a:r>
              <a:rPr sz="2800" b="1" i="0">
                <a:solidFill>
                  <a:srgbClr val="0E3F6E"/>
                </a:solidFill>
                <a:latin typeface="Calibri"/>
              </a:rPr>
              <a:t>LKR 2.10 M</a:t>
            </a:r>
          </a:p>
        </p:txBody>
      </p:sp>
      <p:sp>
        <p:nvSpPr>
          <p:cNvPr id="19" name="TextBox 18"/>
          <p:cNvSpPr txBox="1"/>
          <p:nvPr/>
        </p:nvSpPr>
        <p:spPr>
          <a:xfrm>
            <a:off x="4389120" y="4846320"/>
            <a:ext cx="3291840" cy="457200"/>
          </a:xfrm>
          <a:prstGeom prst="rect">
            <a:avLst/>
          </a:prstGeom>
          <a:noFill/>
        </p:spPr>
        <p:txBody>
          <a:bodyPr wrap="square" anchor="t" lIns="0" rIns="0" tIns="0" bIns="0">
            <a:spAutoFit/>
          </a:bodyPr>
          <a:lstStyle/>
          <a:p>
            <a:pPr algn="l"/>
            <a:r>
              <a:rPr sz="1300" b="0" i="0">
                <a:solidFill>
                  <a:srgbClr val="5A6778"/>
                </a:solidFill>
                <a:latin typeface="Calibri"/>
              </a:rPr>
              <a:t>share of LKR 5 M  ·  42 %</a:t>
            </a:r>
          </a:p>
        </p:txBody>
      </p:sp>
      <p:sp>
        <p:nvSpPr>
          <p:cNvPr id="20" name="Rectangle 19"/>
          <p:cNvSpPr/>
          <p:nvPr/>
        </p:nvSpPr>
        <p:spPr>
          <a:xfrm>
            <a:off x="4251960" y="5715000"/>
            <a:ext cx="3566160" cy="36576"/>
          </a:xfrm>
          <a:prstGeom prst="rect">
            <a:avLst/>
          </a:prstGeom>
          <a:solidFill>
            <a:srgbClr val="CBD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01000" y="3657600"/>
            <a:ext cx="3566160" cy="2103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01000" y="3657600"/>
            <a:ext cx="3566160" cy="3657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38160" y="3703320"/>
            <a:ext cx="3291840" cy="320040"/>
          </a:xfrm>
          <a:prstGeom prst="rect">
            <a:avLst/>
          </a:prstGeom>
          <a:noFill/>
        </p:spPr>
        <p:txBody>
          <a:bodyPr wrap="square" anchor="t" lIns="0" rIns="0" tIns="0" bIns="0">
            <a:spAutoFit/>
          </a:bodyPr>
          <a:lstStyle/>
          <a:p>
            <a:pPr algn="l"/>
            <a:r>
              <a:rPr sz="1400" b="1" i="0">
                <a:solidFill>
                  <a:srgbClr val="FFFFFF"/>
                </a:solidFill>
                <a:latin typeface="Calibri"/>
              </a:rPr>
              <a:t>PROMOTIONAL</a:t>
            </a:r>
          </a:p>
        </p:txBody>
      </p:sp>
      <p:sp>
        <p:nvSpPr>
          <p:cNvPr id="24" name="TextBox 23"/>
          <p:cNvSpPr txBox="1"/>
          <p:nvPr/>
        </p:nvSpPr>
        <p:spPr>
          <a:xfrm>
            <a:off x="8138160" y="4160520"/>
            <a:ext cx="3291840" cy="640080"/>
          </a:xfrm>
          <a:prstGeom prst="rect">
            <a:avLst/>
          </a:prstGeom>
          <a:noFill/>
        </p:spPr>
        <p:txBody>
          <a:bodyPr wrap="square" anchor="t" lIns="0" rIns="0" tIns="0" bIns="0">
            <a:spAutoFit/>
          </a:bodyPr>
          <a:lstStyle/>
          <a:p>
            <a:pPr algn="l"/>
            <a:r>
              <a:rPr sz="2800" b="1" i="0">
                <a:solidFill>
                  <a:srgbClr val="0E3F6E"/>
                </a:solidFill>
                <a:latin typeface="Calibri"/>
              </a:rPr>
              <a:t>LKR 1.16 M</a:t>
            </a:r>
          </a:p>
        </p:txBody>
      </p:sp>
      <p:sp>
        <p:nvSpPr>
          <p:cNvPr id="25" name="TextBox 24"/>
          <p:cNvSpPr txBox="1"/>
          <p:nvPr/>
        </p:nvSpPr>
        <p:spPr>
          <a:xfrm>
            <a:off x="8138160" y="4846320"/>
            <a:ext cx="3291840" cy="457200"/>
          </a:xfrm>
          <a:prstGeom prst="rect">
            <a:avLst/>
          </a:prstGeom>
          <a:noFill/>
        </p:spPr>
        <p:txBody>
          <a:bodyPr wrap="square" anchor="t" lIns="0" rIns="0" tIns="0" bIns="0">
            <a:spAutoFit/>
          </a:bodyPr>
          <a:lstStyle/>
          <a:p>
            <a:pPr algn="l"/>
            <a:r>
              <a:rPr sz="1300" b="0" i="0">
                <a:solidFill>
                  <a:srgbClr val="5A6778"/>
                </a:solidFill>
                <a:latin typeface="Calibri"/>
              </a:rPr>
              <a:t>share of LKR 5 M  ·  23 %</a:t>
            </a:r>
          </a:p>
        </p:txBody>
      </p:sp>
      <p:sp>
        <p:nvSpPr>
          <p:cNvPr id="26" name="Rectangle 25"/>
          <p:cNvSpPr/>
          <p:nvPr/>
        </p:nvSpPr>
        <p:spPr>
          <a:xfrm>
            <a:off x="8001000" y="5715000"/>
            <a:ext cx="3566160" cy="36576"/>
          </a:xfrm>
          <a:prstGeom prst="rect">
            <a:avLst/>
          </a:prstGeom>
          <a:solidFill>
            <a:srgbClr val="CBD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6035040"/>
            <a:ext cx="11155680" cy="457200"/>
          </a:xfrm>
          <a:prstGeom prst="rect">
            <a:avLst/>
          </a:prstGeom>
          <a:noFill/>
        </p:spPr>
        <p:txBody>
          <a:bodyPr wrap="square" anchor="t" lIns="0" rIns="0" tIns="0" bIns="0">
            <a:spAutoFit/>
          </a:bodyPr>
          <a:lstStyle/>
          <a:p>
            <a:pPr algn="l"/>
            <a:r>
              <a:rPr sz="1300" b="1" i="0">
                <a:solidFill>
                  <a:srgbClr val="0E3F6E"/>
                </a:solidFill>
                <a:latin typeface="Calibri"/>
              </a:rPr>
              <a:t>LKR 4,999,955.90 allocated across 8,803 funded outlets (186 zero-uplift outlets correctly excluded).</a:t>
            </a:r>
          </a:p>
        </p:txBody>
      </p:sp>
      <p:sp>
        <p:nvSpPr>
          <p:cNvPr id="28" name="TextBox 27"/>
          <p:cNvSpPr txBox="1"/>
          <p:nvPr/>
        </p:nvSpPr>
        <p:spPr>
          <a:xfrm>
            <a:off x="10515600" y="6492240"/>
            <a:ext cx="1463040" cy="274320"/>
          </a:xfrm>
          <a:prstGeom prst="rect">
            <a:avLst/>
          </a:prstGeom>
          <a:noFill/>
        </p:spPr>
        <p:txBody>
          <a:bodyPr wrap="square" anchor="t" lIns="0" rIns="0" tIns="0" bIns="0">
            <a:spAutoFit/>
          </a:bodyPr>
          <a:lstStyle/>
          <a:p>
            <a:pPr algn="r"/>
            <a:r>
              <a:rPr sz="1000" b="0" i="0">
                <a:solidFill>
                  <a:srgbClr val="5A6778"/>
                </a:solidFill>
                <a:latin typeface="Calibri"/>
              </a:rPr>
              <a:t>6 / 10</a:t>
            </a:r>
          </a:p>
        </p:txBody>
      </p:sp>
      <p:sp>
        <p:nvSpPr>
          <p:cNvPr id="29" name="TextBox 28"/>
          <p:cNvSpPr txBox="1"/>
          <p:nvPr/>
        </p:nvSpPr>
        <p:spPr>
          <a:xfrm>
            <a:off x="502920" y="6492240"/>
            <a:ext cx="7315200" cy="274320"/>
          </a:xfrm>
          <a:prstGeom prst="rect">
            <a:avLst/>
          </a:prstGeom>
          <a:noFill/>
        </p:spPr>
        <p:txBody>
          <a:bodyPr wrap="square" anchor="t" lIns="0" rIns="0" tIns="0" bIns="0">
            <a:spAutoFit/>
          </a:bodyPr>
          <a:lstStyle/>
          <a:p>
            <a:pPr algn="l"/>
            <a:r>
              <a:rPr sz="1000" b="0" i="0">
                <a:solidFill>
                  <a:srgbClr val="5A6778"/>
                </a:solidFill>
                <a:latin typeface="Calibri"/>
              </a:rPr>
              <a:t>LKR 5M allocation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3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430000" cy="365760"/>
          </a:xfrm>
          <a:prstGeom prst="rect">
            <a:avLst/>
          </a:prstGeom>
          <a:noFill/>
        </p:spPr>
        <p:txBody>
          <a:bodyPr wrap="square" anchor="t" lIns="0" rIns="0" tIns="0" bIns="0">
            <a:spAutoFit/>
          </a:bodyPr>
          <a:lstStyle/>
          <a:p>
            <a:pPr algn="l"/>
            <a:r>
              <a:rPr sz="1100" b="1" i="0">
                <a:solidFill>
                  <a:srgbClr val="0E7CBE"/>
                </a:solidFill>
                <a:latin typeface="Calibri"/>
              </a:rPr>
              <a:t>06 · THE COOLER TOP-100</a:t>
            </a:r>
          </a:p>
        </p:txBody>
      </p:sp>
      <p:sp>
        <p:nvSpPr>
          <p:cNvPr id="4" name="TextBox 3"/>
          <p:cNvSpPr txBox="1"/>
          <p:nvPr/>
        </p:nvSpPr>
        <p:spPr>
          <a:xfrm>
            <a:off x="502920" y="777240"/>
            <a:ext cx="11430000" cy="777240"/>
          </a:xfrm>
          <a:prstGeom prst="rect">
            <a:avLst/>
          </a:prstGeom>
          <a:noFill/>
        </p:spPr>
        <p:txBody>
          <a:bodyPr wrap="square" anchor="t" lIns="0" rIns="0" tIns="0" bIns="0">
            <a:spAutoFit/>
          </a:bodyPr>
          <a:lstStyle/>
          <a:p>
            <a:pPr algn="l"/>
            <a:r>
              <a:rPr sz="3200" b="1" i="0">
                <a:solidFill>
                  <a:srgbClr val="0E3F6E"/>
                </a:solidFill>
                <a:latin typeface="Calibri"/>
              </a:rPr>
              <a:t>The single strongest recommendation — hard money</a:t>
            </a:r>
          </a:p>
        </p:txBody>
      </p:sp>
      <p:sp>
        <p:nvSpPr>
          <p:cNvPr id="5" name="Rectangle 4"/>
          <p:cNvSpPr/>
          <p:nvPr/>
        </p:nvSpPr>
        <p:spPr>
          <a:xfrm>
            <a:off x="502920" y="2011680"/>
            <a:ext cx="11155680" cy="2286000"/>
          </a:xfrm>
          <a:prstGeom prst="rect">
            <a:avLst/>
          </a:prstGeom>
          <a:solidFill>
            <a:srgbClr val="0E3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194560"/>
            <a:ext cx="10881360" cy="457200"/>
          </a:xfrm>
          <a:prstGeom prst="rect">
            <a:avLst/>
          </a:prstGeom>
          <a:noFill/>
        </p:spPr>
        <p:txBody>
          <a:bodyPr wrap="square" anchor="t" lIns="0" rIns="0" tIns="0" bIns="0">
            <a:spAutoFit/>
          </a:bodyPr>
          <a:lstStyle/>
          <a:p>
            <a:pPr algn="l"/>
            <a:r>
              <a:rPr sz="1400" b="1" i="0">
                <a:solidFill>
                  <a:srgbClr val="0E7CBE"/>
                </a:solidFill>
                <a:latin typeface="Calibri"/>
              </a:rPr>
              <a:t>NET 24-MONTH VALUE</a:t>
            </a:r>
          </a:p>
        </p:txBody>
      </p:sp>
      <p:sp>
        <p:nvSpPr>
          <p:cNvPr id="7" name="TextBox 6"/>
          <p:cNvSpPr txBox="1"/>
          <p:nvPr/>
        </p:nvSpPr>
        <p:spPr>
          <a:xfrm>
            <a:off x="640080" y="2560320"/>
            <a:ext cx="10881360" cy="1371600"/>
          </a:xfrm>
          <a:prstGeom prst="rect">
            <a:avLst/>
          </a:prstGeom>
          <a:noFill/>
        </p:spPr>
        <p:txBody>
          <a:bodyPr wrap="square" anchor="t" lIns="0" rIns="0" tIns="0" bIns="0">
            <a:spAutoFit/>
          </a:bodyPr>
          <a:lstStyle/>
          <a:p>
            <a:pPr algn="ctr"/>
            <a:r>
              <a:rPr sz="8000" b="1" i="0">
                <a:solidFill>
                  <a:srgbClr val="FFFFFF"/>
                </a:solidFill>
                <a:latin typeface="Calibri"/>
              </a:rPr>
              <a:t>LKR 28.6 M</a:t>
            </a:r>
          </a:p>
        </p:txBody>
      </p:sp>
      <p:sp>
        <p:nvSpPr>
          <p:cNvPr id="8" name="TextBox 7"/>
          <p:cNvSpPr txBox="1"/>
          <p:nvPr/>
        </p:nvSpPr>
        <p:spPr>
          <a:xfrm>
            <a:off x="640080" y="3840480"/>
            <a:ext cx="10881360" cy="457200"/>
          </a:xfrm>
          <a:prstGeom prst="rect">
            <a:avLst/>
          </a:prstGeom>
          <a:noFill/>
        </p:spPr>
        <p:txBody>
          <a:bodyPr wrap="square" anchor="t" lIns="0" rIns="0" tIns="0" bIns="0">
            <a:spAutoFit/>
          </a:bodyPr>
          <a:lstStyle/>
          <a:p>
            <a:pPr algn="ctr"/>
            <a:r>
              <a:rPr sz="1600" b="0" i="0">
                <a:solidFill>
                  <a:srgbClr val="FFFFFF"/>
                </a:solidFill>
                <a:latin typeface="Calibri"/>
              </a:rPr>
              <a:t>from a LKR 5 M cooler programme  ·  median payback 3.6 months</a:t>
            </a:r>
          </a:p>
        </p:txBody>
      </p:sp>
      <p:graphicFrame>
        <p:nvGraphicFramePr>
          <p:cNvPr id="9" name="Table 8"/>
          <p:cNvGraphicFramePr>
            <a:graphicFrameLocks noGrp="1"/>
          </p:cNvGraphicFramePr>
          <p:nvPr/>
        </p:nvGraphicFramePr>
        <p:xfrm>
          <a:off x="502920" y="4526280"/>
          <a:ext cx="11155680" cy="1417320"/>
        </p:xfrm>
        <a:graphic>
          <a:graphicData uri="http://schemas.openxmlformats.org/drawingml/2006/table">
            <a:tbl>
              <a:tblPr firstRow="1" bandRow="1">
                <a:tableStyleId>{5C22544A-7EE6-4342-B048-85BDC9FD1C3A}</a:tableStyleId>
              </a:tblPr>
              <a:tblGrid>
                <a:gridCol w="5577840"/>
                <a:gridCol w="5577840"/>
              </a:tblGrid>
              <a:tr h="236220">
                <a:tc>
                  <a:txBody>
                    <a:bodyPr/>
                    <a:lstStyle/>
                    <a:p>
                      <a:pPr algn="l"/>
                      <a:r>
                        <a:rPr b="1" sz="1200">
                          <a:solidFill>
                            <a:srgbClr val="FFFFFF"/>
                          </a:solidFill>
                          <a:latin typeface="Calibri"/>
                        </a:rPr>
                        <a:t>Metric</a:t>
                      </a:r>
                    </a:p>
                  </a:txBody>
                  <a:tcPr>
                    <a:solidFill>
                      <a:srgbClr val="0E3F6E"/>
                    </a:solidFill>
                  </a:tcPr>
                </a:tc>
                <a:tc>
                  <a:txBody>
                    <a:bodyPr/>
                    <a:lstStyle/>
                    <a:p>
                      <a:pPr algn="l"/>
                      <a:r>
                        <a:rPr b="1" sz="1200">
                          <a:solidFill>
                            <a:srgbClr val="FFFFFF"/>
                          </a:solidFill>
                          <a:latin typeface="Calibri"/>
                        </a:rPr>
                        <a:t>Value</a:t>
                      </a:r>
                    </a:p>
                  </a:txBody>
                  <a:tcPr>
                    <a:solidFill>
                      <a:srgbClr val="0E3F6E"/>
                    </a:solidFill>
                  </a:tcPr>
                </a:tc>
              </a:tr>
              <a:tr h="236220">
                <a:tc>
                  <a:txBody>
                    <a:bodyPr tIns="36576" bIns="36576"/>
                    <a:lstStyle/>
                    <a:p>
                      <a:pPr algn="l"/>
                      <a:r>
                        <a:rPr sz="1200">
                          <a:solidFill>
                            <a:srgbClr val="1A202C"/>
                          </a:solidFill>
                          <a:latin typeface="Calibri"/>
                        </a:rPr>
                        <a:t>Capex required (100 × LKR 50,000)</a:t>
                      </a:r>
                    </a:p>
                  </a:txBody>
                  <a:tcPr>
                    <a:solidFill>
                      <a:srgbClr val="FFFFFF"/>
                    </a:solidFill>
                  </a:tcPr>
                </a:tc>
                <a:tc>
                  <a:txBody>
                    <a:bodyPr tIns="36576" bIns="36576"/>
                    <a:lstStyle/>
                    <a:p>
                      <a:pPr algn="l"/>
                      <a:r>
                        <a:rPr sz="1200">
                          <a:solidFill>
                            <a:srgbClr val="1A202C"/>
                          </a:solidFill>
                          <a:latin typeface="Calibri"/>
                        </a:rPr>
                        <a:t>LKR 5,000,000</a:t>
                      </a:r>
                    </a:p>
                  </a:txBody>
                  <a:tcPr>
                    <a:solidFill>
                      <a:srgbClr val="FFFFFF"/>
                    </a:solidFill>
                  </a:tcPr>
                </a:tc>
              </a:tr>
              <a:tr h="236220">
                <a:tc>
                  <a:txBody>
                    <a:bodyPr tIns="36576" bIns="36576"/>
                    <a:lstStyle/>
                    <a:p>
                      <a:pPr algn="l"/>
                      <a:r>
                        <a:rPr sz="1200">
                          <a:solidFill>
                            <a:srgbClr val="1A202C"/>
                          </a:solidFill>
                          <a:latin typeface="Calibri"/>
                        </a:rPr>
                        <a:t>24-month margin uplift (predicted)</a:t>
                      </a:r>
                    </a:p>
                  </a:txBody>
                  <a:tcPr>
                    <a:solidFill>
                      <a:srgbClr val="F4F6F9"/>
                    </a:solidFill>
                  </a:tcPr>
                </a:tc>
                <a:tc>
                  <a:txBody>
                    <a:bodyPr tIns="36576" bIns="36576"/>
                    <a:lstStyle/>
                    <a:p>
                      <a:pPr algn="l"/>
                      <a:r>
                        <a:rPr sz="1200">
                          <a:solidFill>
                            <a:srgbClr val="1A202C"/>
                          </a:solidFill>
                          <a:latin typeface="Calibri"/>
                        </a:rPr>
                        <a:t>LKR 33,629,125</a:t>
                      </a:r>
                    </a:p>
                  </a:txBody>
                  <a:tcPr>
                    <a:solidFill>
                      <a:srgbClr val="F4F6F9"/>
                    </a:solidFill>
                  </a:tcPr>
                </a:tc>
              </a:tr>
              <a:tr h="236220">
                <a:tc>
                  <a:txBody>
                    <a:bodyPr tIns="36576" bIns="36576"/>
                    <a:lstStyle/>
                    <a:p>
                      <a:pPr algn="l"/>
                      <a:r>
                        <a:rPr sz="1200">
                          <a:solidFill>
                            <a:srgbClr val="1A202C"/>
                          </a:solidFill>
                          <a:latin typeface="Calibri"/>
                        </a:rPr>
                        <a:t>Net 24-month value</a:t>
                      </a:r>
                    </a:p>
                  </a:txBody>
                  <a:tcPr>
                    <a:solidFill>
                      <a:srgbClr val="FFFFFF"/>
                    </a:solidFill>
                  </a:tcPr>
                </a:tc>
                <a:tc>
                  <a:txBody>
                    <a:bodyPr tIns="36576" bIns="36576"/>
                    <a:lstStyle/>
                    <a:p>
                      <a:pPr algn="l"/>
                      <a:r>
                        <a:rPr sz="1200">
                          <a:solidFill>
                            <a:srgbClr val="1A202C"/>
                          </a:solidFill>
                          <a:latin typeface="Calibri"/>
                        </a:rPr>
                        <a:t>LKR 28,629,125</a:t>
                      </a:r>
                    </a:p>
                  </a:txBody>
                  <a:tcPr>
                    <a:solidFill>
                      <a:srgbClr val="FFFFFF"/>
                    </a:solidFill>
                  </a:tcPr>
                </a:tc>
              </a:tr>
              <a:tr h="236220">
                <a:tc>
                  <a:txBody>
                    <a:bodyPr tIns="36576" bIns="36576"/>
                    <a:lstStyle/>
                    <a:p>
                      <a:pPr algn="l"/>
                      <a:r>
                        <a:rPr sz="1200">
                          <a:solidFill>
                            <a:srgbClr val="1A202C"/>
                          </a:solidFill>
                          <a:latin typeface="Calibri"/>
                        </a:rPr>
                        <a:t>Median payback period</a:t>
                      </a:r>
                    </a:p>
                  </a:txBody>
                  <a:tcPr>
                    <a:solidFill>
                      <a:srgbClr val="F4F6F9"/>
                    </a:solidFill>
                  </a:tcPr>
                </a:tc>
                <a:tc>
                  <a:txBody>
                    <a:bodyPr tIns="36576" bIns="36576"/>
                    <a:lstStyle/>
                    <a:p>
                      <a:pPr algn="l"/>
                      <a:r>
                        <a:rPr sz="1200">
                          <a:solidFill>
                            <a:srgbClr val="1A202C"/>
                          </a:solidFill>
                          <a:latin typeface="Calibri"/>
                        </a:rPr>
                        <a:t>3.6 months</a:t>
                      </a:r>
                    </a:p>
                  </a:txBody>
                  <a:tcPr>
                    <a:solidFill>
                      <a:srgbClr val="F4F6F9"/>
                    </a:solidFill>
                  </a:tcPr>
                </a:tc>
              </a:tr>
              <a:tr h="236220">
                <a:tc>
                  <a:txBody>
                    <a:bodyPr tIns="36576" bIns="36576"/>
                    <a:lstStyle/>
                    <a:p>
                      <a:pPr algn="l"/>
                      <a:r>
                        <a:rPr sz="1200">
                          <a:solidFill>
                            <a:srgbClr val="1A202C"/>
                          </a:solidFill>
                          <a:latin typeface="Calibri"/>
                        </a:rPr>
                        <a:t>Outlets currently without a cooler (eligible)</a:t>
                      </a:r>
                    </a:p>
                  </a:txBody>
                  <a:tcPr>
                    <a:solidFill>
                      <a:srgbClr val="FFFFFF"/>
                    </a:solidFill>
                  </a:tcPr>
                </a:tc>
                <a:tc>
                  <a:txBody>
                    <a:bodyPr tIns="36576" bIns="36576"/>
                    <a:lstStyle/>
                    <a:p>
                      <a:pPr algn="l"/>
                      <a:r>
                        <a:rPr sz="1200">
                          <a:solidFill>
                            <a:srgbClr val="1A202C"/>
                          </a:solidFill>
                          <a:latin typeface="Calibri"/>
                        </a:rPr>
                        <a:t>7,028</a:t>
                      </a:r>
                    </a:p>
                  </a:txBody>
                  <a:tcPr>
                    <a:solidFill>
                      <a:srgbClr val="FFFFFF"/>
                    </a:solidFill>
                  </a:tcPr>
                </a:tc>
              </a:tr>
            </a:tbl>
          </a:graphicData>
        </a:graphic>
      </p:graphicFrame>
      <p:sp>
        <p:nvSpPr>
          <p:cNvPr id="10" name="TextBox 9"/>
          <p:cNvSpPr txBox="1"/>
          <p:nvPr/>
        </p:nvSpPr>
        <p:spPr>
          <a:xfrm>
            <a:off x="10515600" y="6492240"/>
            <a:ext cx="1463040" cy="274320"/>
          </a:xfrm>
          <a:prstGeom prst="rect">
            <a:avLst/>
          </a:prstGeom>
          <a:noFill/>
        </p:spPr>
        <p:txBody>
          <a:bodyPr wrap="square" anchor="t" lIns="0" rIns="0" tIns="0" bIns="0">
            <a:spAutoFit/>
          </a:bodyPr>
          <a:lstStyle/>
          <a:p>
            <a:pPr algn="r"/>
            <a:r>
              <a:rPr sz="1000" b="0" i="0">
                <a:solidFill>
                  <a:srgbClr val="5A6778"/>
                </a:solidFill>
                <a:latin typeface="Calibri"/>
              </a:rPr>
              <a:t>7 / 10</a:t>
            </a:r>
          </a:p>
        </p:txBody>
      </p:sp>
      <p:sp>
        <p:nvSpPr>
          <p:cNvPr id="11" name="TextBox 10"/>
          <p:cNvSpPr txBox="1"/>
          <p:nvPr/>
        </p:nvSpPr>
        <p:spPr>
          <a:xfrm>
            <a:off x="502920" y="6492240"/>
            <a:ext cx="7315200" cy="274320"/>
          </a:xfrm>
          <a:prstGeom prst="rect">
            <a:avLst/>
          </a:prstGeom>
          <a:noFill/>
        </p:spPr>
        <p:txBody>
          <a:bodyPr wrap="square" anchor="t" lIns="0" rIns="0" tIns="0" bIns="0">
            <a:spAutoFit/>
          </a:bodyPr>
          <a:lstStyle/>
          <a:p>
            <a:pPr algn="l"/>
            <a:r>
              <a:rPr sz="1000" b="0" i="0">
                <a:solidFill>
                  <a:srgbClr val="5A6778"/>
                </a:solidFill>
                <a:latin typeface="Calibri"/>
              </a:rPr>
              <a:t>Cooler Top-100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3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430000" cy="365760"/>
          </a:xfrm>
          <a:prstGeom prst="rect">
            <a:avLst/>
          </a:prstGeom>
          <a:noFill/>
        </p:spPr>
        <p:txBody>
          <a:bodyPr wrap="square" anchor="t" lIns="0" rIns="0" tIns="0" bIns="0">
            <a:spAutoFit/>
          </a:bodyPr>
          <a:lstStyle/>
          <a:p>
            <a:pPr algn="l"/>
            <a:r>
              <a:rPr sz="1100" b="1" i="0">
                <a:solidFill>
                  <a:srgbClr val="0E7CBE"/>
                </a:solidFill>
                <a:latin typeface="Calibri"/>
              </a:rPr>
              <a:t>07 · THE OUTLET INTELLIGENCE APP</a:t>
            </a:r>
          </a:p>
        </p:txBody>
      </p:sp>
      <p:sp>
        <p:nvSpPr>
          <p:cNvPr id="4" name="TextBox 3"/>
          <p:cNvSpPr txBox="1"/>
          <p:nvPr/>
        </p:nvSpPr>
        <p:spPr>
          <a:xfrm>
            <a:off x="502920" y="777240"/>
            <a:ext cx="11430000" cy="777240"/>
          </a:xfrm>
          <a:prstGeom prst="rect">
            <a:avLst/>
          </a:prstGeom>
          <a:noFill/>
        </p:spPr>
        <p:txBody>
          <a:bodyPr wrap="square" anchor="t" lIns="0" rIns="0" tIns="0" bIns="0">
            <a:spAutoFit/>
          </a:bodyPr>
          <a:lstStyle/>
          <a:p>
            <a:pPr algn="l"/>
            <a:r>
              <a:rPr sz="3200" b="1" i="0">
                <a:solidFill>
                  <a:srgbClr val="0E3F6E"/>
                </a:solidFill>
                <a:latin typeface="Calibri"/>
              </a:rPr>
              <a:t>Live demo  ·  5 minutes  ·  http://localhost:3000</a:t>
            </a:r>
          </a:p>
        </p:txBody>
      </p:sp>
      <p:sp>
        <p:nvSpPr>
          <p:cNvPr id="5" name="Rounded Rectangle 4"/>
          <p:cNvSpPr/>
          <p:nvPr/>
        </p:nvSpPr>
        <p:spPr>
          <a:xfrm>
            <a:off x="502920" y="2103120"/>
            <a:ext cx="2697480" cy="3108960"/>
          </a:xfrm>
          <a:prstGeom prst="roundRect">
            <a:avLst>
              <a:gd name="adj" fmla="val 6000"/>
            </a:avLst>
          </a:prstGeom>
          <a:solidFill>
            <a:srgbClr val="FFFFFF"/>
          </a:solidFill>
          <a:ln w="19050">
            <a:solidFill>
              <a:srgbClr val="0E7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2240280"/>
            <a:ext cx="502920" cy="502920"/>
          </a:xfrm>
          <a:prstGeom prst="ellipse">
            <a:avLst/>
          </a:prstGeom>
          <a:solidFill>
            <a:srgbClr val="0E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67712"/>
            <a:ext cx="502920" cy="457200"/>
          </a:xfrm>
          <a:prstGeom prst="rect">
            <a:avLst/>
          </a:prstGeom>
          <a:noFill/>
        </p:spPr>
        <p:txBody>
          <a:bodyPr wrap="square" anchor="t" lIns="0" rIns="0" tIns="0" bIns="0">
            <a:spAutoFit/>
          </a:bodyPr>
          <a:lstStyle/>
          <a:p>
            <a:pPr algn="ctr"/>
            <a:r>
              <a:rPr sz="2200" b="1" i="0">
                <a:solidFill>
                  <a:srgbClr val="FFFFFF"/>
                </a:solidFill>
                <a:latin typeface="Calibri"/>
              </a:rPr>
              <a:t>1</a:t>
            </a:r>
          </a:p>
        </p:txBody>
      </p:sp>
      <p:sp>
        <p:nvSpPr>
          <p:cNvPr id="8" name="TextBox 7"/>
          <p:cNvSpPr txBox="1"/>
          <p:nvPr/>
        </p:nvSpPr>
        <p:spPr>
          <a:xfrm>
            <a:off x="1280160" y="2331720"/>
            <a:ext cx="1783080" cy="457200"/>
          </a:xfrm>
          <a:prstGeom prst="rect">
            <a:avLst/>
          </a:prstGeom>
          <a:noFill/>
        </p:spPr>
        <p:txBody>
          <a:bodyPr wrap="square" anchor="t" lIns="0" rIns="0" tIns="0" bIns="0">
            <a:spAutoFit/>
          </a:bodyPr>
          <a:lstStyle/>
          <a:p>
            <a:pPr algn="l"/>
            <a:r>
              <a:rPr sz="1300" b="1" i="0">
                <a:solidFill>
                  <a:srgbClr val="0E3F6E"/>
                </a:solidFill>
                <a:latin typeface="Calibri"/>
              </a:rPr>
              <a:t>DASHBOARD</a:t>
            </a:r>
          </a:p>
        </p:txBody>
      </p:sp>
      <p:sp>
        <p:nvSpPr>
          <p:cNvPr id="9" name="TextBox 8"/>
          <p:cNvSpPr txBox="1"/>
          <p:nvPr/>
        </p:nvSpPr>
        <p:spPr>
          <a:xfrm>
            <a:off x="685800" y="2971800"/>
            <a:ext cx="2331720" cy="2103120"/>
          </a:xfrm>
          <a:prstGeom prst="rect">
            <a:avLst/>
          </a:prstGeom>
          <a:noFill/>
        </p:spPr>
        <p:txBody>
          <a:bodyPr wrap="square" anchor="t" lIns="0" rIns="0" tIns="0" bIns="0">
            <a:spAutoFit/>
          </a:bodyPr>
          <a:lstStyle/>
          <a:p>
            <a:pPr algn="l"/>
            <a:r>
              <a:rPr sz="1300" b="0" i="0">
                <a:solidFill>
                  <a:srgbClr val="1A202C"/>
                </a:solidFill>
                <a:latin typeface="Calibri"/>
              </a:rPr>
              <a:t>Six KPI tiles
Province breakdown
Quick links</a:t>
            </a:r>
          </a:p>
        </p:txBody>
      </p:sp>
      <p:sp>
        <p:nvSpPr>
          <p:cNvPr id="10" name="Rounded Rectangle 9"/>
          <p:cNvSpPr/>
          <p:nvPr/>
        </p:nvSpPr>
        <p:spPr>
          <a:xfrm>
            <a:off x="3291840" y="2103120"/>
            <a:ext cx="2697480" cy="3108960"/>
          </a:xfrm>
          <a:prstGeom prst="roundRect">
            <a:avLst>
              <a:gd name="adj" fmla="val 6000"/>
            </a:avLst>
          </a:prstGeom>
          <a:solidFill>
            <a:srgbClr val="FFFFFF"/>
          </a:solidFill>
          <a:ln w="19050">
            <a:solidFill>
              <a:srgbClr val="0E7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429000" y="2240280"/>
            <a:ext cx="502920" cy="502920"/>
          </a:xfrm>
          <a:prstGeom prst="ellipse">
            <a:avLst/>
          </a:prstGeom>
          <a:solidFill>
            <a:srgbClr val="0E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0" y="2267712"/>
            <a:ext cx="502920" cy="457200"/>
          </a:xfrm>
          <a:prstGeom prst="rect">
            <a:avLst/>
          </a:prstGeom>
          <a:noFill/>
        </p:spPr>
        <p:txBody>
          <a:bodyPr wrap="square" anchor="t" lIns="0" rIns="0" tIns="0" bIns="0">
            <a:spAutoFit/>
          </a:bodyPr>
          <a:lstStyle/>
          <a:p>
            <a:pPr algn="ctr"/>
            <a:r>
              <a:rPr sz="2200" b="1" i="0">
                <a:solidFill>
                  <a:srgbClr val="FFFFFF"/>
                </a:solidFill>
                <a:latin typeface="Calibri"/>
              </a:rPr>
              <a:t>2</a:t>
            </a:r>
          </a:p>
        </p:txBody>
      </p:sp>
      <p:sp>
        <p:nvSpPr>
          <p:cNvPr id="13" name="TextBox 12"/>
          <p:cNvSpPr txBox="1"/>
          <p:nvPr/>
        </p:nvSpPr>
        <p:spPr>
          <a:xfrm>
            <a:off x="4069080" y="2331720"/>
            <a:ext cx="1783080" cy="457200"/>
          </a:xfrm>
          <a:prstGeom prst="rect">
            <a:avLst/>
          </a:prstGeom>
          <a:noFill/>
        </p:spPr>
        <p:txBody>
          <a:bodyPr wrap="square" anchor="t" lIns="0" rIns="0" tIns="0" bIns="0">
            <a:spAutoFit/>
          </a:bodyPr>
          <a:lstStyle/>
          <a:p>
            <a:pPr algn="l"/>
            <a:r>
              <a:rPr sz="1300" b="1" i="0">
                <a:solidFill>
                  <a:srgbClr val="0E3F6E"/>
                </a:solidFill>
                <a:latin typeface="Calibri"/>
              </a:rPr>
              <a:t>OUTLETS</a:t>
            </a:r>
          </a:p>
        </p:txBody>
      </p:sp>
      <p:sp>
        <p:nvSpPr>
          <p:cNvPr id="14" name="TextBox 13"/>
          <p:cNvSpPr txBox="1"/>
          <p:nvPr/>
        </p:nvSpPr>
        <p:spPr>
          <a:xfrm>
            <a:off x="3474720" y="2971800"/>
            <a:ext cx="2331720" cy="2103120"/>
          </a:xfrm>
          <a:prstGeom prst="rect">
            <a:avLst/>
          </a:prstGeom>
          <a:noFill/>
        </p:spPr>
        <p:txBody>
          <a:bodyPr wrap="square" anchor="t" lIns="0" rIns="0" tIns="0" bIns="0">
            <a:spAutoFit/>
          </a:bodyPr>
          <a:lstStyle/>
          <a:p>
            <a:pPr algn="l"/>
            <a:r>
              <a:rPr sz="1300" b="0" i="0">
                <a:solidFill>
                  <a:srgbClr val="1A202C"/>
                </a:solidFill>
                <a:latin typeface="Calibri"/>
              </a:rPr>
              <a:t>20,000 outlets
Six filters
20 per page</a:t>
            </a:r>
          </a:p>
        </p:txBody>
      </p:sp>
      <p:sp>
        <p:nvSpPr>
          <p:cNvPr id="15" name="Rounded Rectangle 14"/>
          <p:cNvSpPr/>
          <p:nvPr/>
        </p:nvSpPr>
        <p:spPr>
          <a:xfrm>
            <a:off x="6080760" y="2103120"/>
            <a:ext cx="2697480" cy="3108960"/>
          </a:xfrm>
          <a:prstGeom prst="roundRect">
            <a:avLst>
              <a:gd name="adj" fmla="val 6000"/>
            </a:avLst>
          </a:prstGeom>
          <a:solidFill>
            <a:srgbClr val="FFFFFF"/>
          </a:solidFill>
          <a:ln w="19050">
            <a:solidFill>
              <a:srgbClr val="0E7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0" y="2240280"/>
            <a:ext cx="502920" cy="502920"/>
          </a:xfrm>
          <a:prstGeom prst="ellipse">
            <a:avLst/>
          </a:prstGeom>
          <a:solidFill>
            <a:srgbClr val="0E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0" y="2267712"/>
            <a:ext cx="502920" cy="457200"/>
          </a:xfrm>
          <a:prstGeom prst="rect">
            <a:avLst/>
          </a:prstGeom>
          <a:noFill/>
        </p:spPr>
        <p:txBody>
          <a:bodyPr wrap="square" anchor="t" lIns="0" rIns="0" tIns="0" bIns="0">
            <a:spAutoFit/>
          </a:bodyPr>
          <a:lstStyle/>
          <a:p>
            <a:pPr algn="ctr"/>
            <a:r>
              <a:rPr sz="2200" b="1" i="0">
                <a:solidFill>
                  <a:srgbClr val="FFFFFF"/>
                </a:solidFill>
                <a:latin typeface="Calibri"/>
              </a:rPr>
              <a:t>3</a:t>
            </a:r>
          </a:p>
        </p:txBody>
      </p:sp>
      <p:sp>
        <p:nvSpPr>
          <p:cNvPr id="18" name="TextBox 17"/>
          <p:cNvSpPr txBox="1"/>
          <p:nvPr/>
        </p:nvSpPr>
        <p:spPr>
          <a:xfrm>
            <a:off x="6858000" y="2331720"/>
            <a:ext cx="1783080" cy="457200"/>
          </a:xfrm>
          <a:prstGeom prst="rect">
            <a:avLst/>
          </a:prstGeom>
          <a:noFill/>
        </p:spPr>
        <p:txBody>
          <a:bodyPr wrap="square" anchor="t" lIns="0" rIns="0" tIns="0" bIns="0">
            <a:spAutoFit/>
          </a:bodyPr>
          <a:lstStyle/>
          <a:p>
            <a:pPr algn="l"/>
            <a:r>
              <a:rPr sz="1300" b="1" i="0">
                <a:solidFill>
                  <a:srgbClr val="0E3F6E"/>
                </a:solidFill>
                <a:latin typeface="Calibri"/>
              </a:rPr>
              <a:t>DRILL-DOWN</a:t>
            </a:r>
          </a:p>
        </p:txBody>
      </p:sp>
      <p:sp>
        <p:nvSpPr>
          <p:cNvPr id="19" name="TextBox 18"/>
          <p:cNvSpPr txBox="1"/>
          <p:nvPr/>
        </p:nvSpPr>
        <p:spPr>
          <a:xfrm>
            <a:off x="6263640" y="2971800"/>
            <a:ext cx="2331720" cy="2103120"/>
          </a:xfrm>
          <a:prstGeom prst="rect">
            <a:avLst/>
          </a:prstGeom>
          <a:noFill/>
        </p:spPr>
        <p:txBody>
          <a:bodyPr wrap="square" anchor="t" lIns="0" rIns="0" tIns="0" bIns="0">
            <a:spAutoFit/>
          </a:bodyPr>
          <a:lstStyle/>
          <a:p>
            <a:pPr algn="l"/>
            <a:r>
              <a:rPr sz="1300" b="0" i="0">
                <a:solidFill>
                  <a:srgbClr val="1A202C"/>
                </a:solidFill>
                <a:latin typeface="Calibri"/>
              </a:rPr>
              <a:t>Predicted potential
SHAP drivers
What-if deltas
Recommended actions</a:t>
            </a:r>
          </a:p>
        </p:txBody>
      </p:sp>
      <p:sp>
        <p:nvSpPr>
          <p:cNvPr id="20" name="Rounded Rectangle 19"/>
          <p:cNvSpPr/>
          <p:nvPr/>
        </p:nvSpPr>
        <p:spPr>
          <a:xfrm>
            <a:off x="8869680" y="2103120"/>
            <a:ext cx="2697480" cy="3108960"/>
          </a:xfrm>
          <a:prstGeom prst="roundRect">
            <a:avLst>
              <a:gd name="adj" fmla="val 6000"/>
            </a:avLst>
          </a:prstGeom>
          <a:solidFill>
            <a:srgbClr val="FFFFFF"/>
          </a:solidFill>
          <a:ln w="19050">
            <a:solidFill>
              <a:srgbClr val="0E7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006840" y="2240280"/>
            <a:ext cx="502920" cy="502920"/>
          </a:xfrm>
          <a:prstGeom prst="ellipse">
            <a:avLst/>
          </a:prstGeom>
          <a:solidFill>
            <a:srgbClr val="0E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06840" y="2267712"/>
            <a:ext cx="502920" cy="457200"/>
          </a:xfrm>
          <a:prstGeom prst="rect">
            <a:avLst/>
          </a:prstGeom>
          <a:noFill/>
        </p:spPr>
        <p:txBody>
          <a:bodyPr wrap="square" anchor="t" lIns="0" rIns="0" tIns="0" bIns="0">
            <a:spAutoFit/>
          </a:bodyPr>
          <a:lstStyle/>
          <a:p>
            <a:pPr algn="ctr"/>
            <a:r>
              <a:rPr sz="2200" b="1" i="0">
                <a:solidFill>
                  <a:srgbClr val="FFFFFF"/>
                </a:solidFill>
                <a:latin typeface="Calibri"/>
              </a:rPr>
              <a:t>4</a:t>
            </a:r>
          </a:p>
        </p:txBody>
      </p:sp>
      <p:sp>
        <p:nvSpPr>
          <p:cNvPr id="23" name="TextBox 22"/>
          <p:cNvSpPr txBox="1"/>
          <p:nvPr/>
        </p:nvSpPr>
        <p:spPr>
          <a:xfrm>
            <a:off x="9646920" y="2331720"/>
            <a:ext cx="1783080" cy="457200"/>
          </a:xfrm>
          <a:prstGeom prst="rect">
            <a:avLst/>
          </a:prstGeom>
          <a:noFill/>
        </p:spPr>
        <p:txBody>
          <a:bodyPr wrap="square" anchor="t" lIns="0" rIns="0" tIns="0" bIns="0">
            <a:spAutoFit/>
          </a:bodyPr>
          <a:lstStyle/>
          <a:p>
            <a:pPr algn="l"/>
            <a:r>
              <a:rPr sz="1300" b="1" i="0">
                <a:solidFill>
                  <a:srgbClr val="0E3F6E"/>
                </a:solidFill>
                <a:latin typeface="Calibri"/>
              </a:rPr>
              <a:t>AI EXPLANATION</a:t>
            </a:r>
          </a:p>
        </p:txBody>
      </p:sp>
      <p:sp>
        <p:nvSpPr>
          <p:cNvPr id="24" name="TextBox 23"/>
          <p:cNvSpPr txBox="1"/>
          <p:nvPr/>
        </p:nvSpPr>
        <p:spPr>
          <a:xfrm>
            <a:off x="9052560" y="2971800"/>
            <a:ext cx="2331720" cy="2103120"/>
          </a:xfrm>
          <a:prstGeom prst="rect">
            <a:avLst/>
          </a:prstGeom>
          <a:noFill/>
        </p:spPr>
        <p:txBody>
          <a:bodyPr wrap="square" anchor="t" lIns="0" rIns="0" tIns="0" bIns="0">
            <a:spAutoFit/>
          </a:bodyPr>
          <a:lstStyle/>
          <a:p>
            <a:pPr algn="l"/>
            <a:r>
              <a:rPr sz="1300" b="0" i="0">
                <a:solidFill>
                  <a:srgbClr val="1A202C"/>
                </a:solidFill>
                <a:latin typeface="Calibri"/>
              </a:rPr>
              <a:t>Gemini 2.5 Flash
Grounded in payload
Plain-English narrative</a:t>
            </a:r>
          </a:p>
        </p:txBody>
      </p:sp>
      <p:sp>
        <p:nvSpPr>
          <p:cNvPr id="25" name="Rectangle 24"/>
          <p:cNvSpPr/>
          <p:nvPr/>
        </p:nvSpPr>
        <p:spPr>
          <a:xfrm>
            <a:off x="502920" y="5394960"/>
            <a:ext cx="11155680" cy="96012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440680"/>
            <a:ext cx="10972800" cy="365760"/>
          </a:xfrm>
          <a:prstGeom prst="rect">
            <a:avLst/>
          </a:prstGeom>
          <a:noFill/>
        </p:spPr>
        <p:txBody>
          <a:bodyPr wrap="square" anchor="t" lIns="0" rIns="0" tIns="0" bIns="0">
            <a:spAutoFit/>
          </a:bodyPr>
          <a:lstStyle/>
          <a:p>
            <a:pPr algn="l"/>
            <a:r>
              <a:rPr sz="1100" b="1" i="0">
                <a:solidFill>
                  <a:srgbClr val="0E7CBE"/>
                </a:solidFill>
                <a:latin typeface="Calibri"/>
              </a:rPr>
              <a:t>INSIGHTS WORKSPACE — TABBED VIEWS</a:t>
            </a:r>
          </a:p>
        </p:txBody>
      </p:sp>
      <p:sp>
        <p:nvSpPr>
          <p:cNvPr id="27" name="TextBox 26"/>
          <p:cNvSpPr txBox="1"/>
          <p:nvPr/>
        </p:nvSpPr>
        <p:spPr>
          <a:xfrm>
            <a:off x="640080" y="5760720"/>
            <a:ext cx="10972800" cy="640080"/>
          </a:xfrm>
          <a:prstGeom prst="rect">
            <a:avLst/>
          </a:prstGeom>
          <a:noFill/>
        </p:spPr>
        <p:txBody>
          <a:bodyPr wrap="square" anchor="t" lIns="0" rIns="0" tIns="0" bIns="0">
            <a:spAutoFit/>
          </a:bodyPr>
          <a:lstStyle/>
          <a:p>
            <a:pPr algn="l"/>
            <a:r>
              <a:rPr sz="1400" b="1" i="0">
                <a:solidFill>
                  <a:srgbClr val="0E3F6E"/>
                </a:solidFill>
                <a:latin typeface="Calibri"/>
              </a:rPr>
              <a:t>Budget  ·  Cooler ROI  ·  Dormancy risk  ·  Distributor scorecard  ·  Territories (Leaflet map)  ·  Forensics findings</a:t>
            </a:r>
          </a:p>
        </p:txBody>
      </p:sp>
      <p:sp>
        <p:nvSpPr>
          <p:cNvPr id="28" name="TextBox 27"/>
          <p:cNvSpPr txBox="1"/>
          <p:nvPr/>
        </p:nvSpPr>
        <p:spPr>
          <a:xfrm>
            <a:off x="10515600" y="6492240"/>
            <a:ext cx="1463040" cy="274320"/>
          </a:xfrm>
          <a:prstGeom prst="rect">
            <a:avLst/>
          </a:prstGeom>
          <a:noFill/>
        </p:spPr>
        <p:txBody>
          <a:bodyPr wrap="square" anchor="t" lIns="0" rIns="0" tIns="0" bIns="0">
            <a:spAutoFit/>
          </a:bodyPr>
          <a:lstStyle/>
          <a:p>
            <a:pPr algn="r"/>
            <a:r>
              <a:rPr sz="1000" b="0" i="0">
                <a:solidFill>
                  <a:srgbClr val="5A6778"/>
                </a:solidFill>
                <a:latin typeface="Calibri"/>
              </a:rPr>
              <a:t>8 / 10</a:t>
            </a:r>
          </a:p>
        </p:txBody>
      </p:sp>
      <p:sp>
        <p:nvSpPr>
          <p:cNvPr id="29" name="TextBox 28"/>
          <p:cNvSpPr txBox="1"/>
          <p:nvPr/>
        </p:nvSpPr>
        <p:spPr>
          <a:xfrm>
            <a:off x="502920" y="6492240"/>
            <a:ext cx="7315200" cy="274320"/>
          </a:xfrm>
          <a:prstGeom prst="rect">
            <a:avLst/>
          </a:prstGeom>
          <a:noFill/>
        </p:spPr>
        <p:txBody>
          <a:bodyPr wrap="square" anchor="t" lIns="0" rIns="0" tIns="0" bIns="0">
            <a:spAutoFit/>
          </a:bodyPr>
          <a:lstStyle/>
          <a:p>
            <a:pPr algn="l"/>
            <a:r>
              <a:rPr sz="1000" b="0" i="0">
                <a:solidFill>
                  <a:srgbClr val="5A6778"/>
                </a:solidFill>
                <a:latin typeface="Calibri"/>
              </a:rPr>
              <a:t>Live demo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3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430000" cy="365760"/>
          </a:xfrm>
          <a:prstGeom prst="rect">
            <a:avLst/>
          </a:prstGeom>
          <a:noFill/>
        </p:spPr>
        <p:txBody>
          <a:bodyPr wrap="square" anchor="t" lIns="0" rIns="0" tIns="0" bIns="0">
            <a:spAutoFit/>
          </a:bodyPr>
          <a:lstStyle/>
          <a:p>
            <a:pPr algn="l"/>
            <a:r>
              <a:rPr sz="1100" b="1" i="0">
                <a:solidFill>
                  <a:srgbClr val="0E7CBE"/>
                </a:solidFill>
                <a:latin typeface="Calibri"/>
              </a:rPr>
              <a:t>08 · ROLLOUT PLAN</a:t>
            </a:r>
          </a:p>
        </p:txBody>
      </p:sp>
      <p:sp>
        <p:nvSpPr>
          <p:cNvPr id="4" name="TextBox 3"/>
          <p:cNvSpPr txBox="1"/>
          <p:nvPr/>
        </p:nvSpPr>
        <p:spPr>
          <a:xfrm>
            <a:off x="502920" y="777240"/>
            <a:ext cx="11430000" cy="777240"/>
          </a:xfrm>
          <a:prstGeom prst="rect">
            <a:avLst/>
          </a:prstGeom>
          <a:noFill/>
        </p:spPr>
        <p:txBody>
          <a:bodyPr wrap="square" anchor="t" lIns="0" rIns="0" tIns="0" bIns="0">
            <a:spAutoFit/>
          </a:bodyPr>
          <a:lstStyle/>
          <a:p>
            <a:pPr algn="l"/>
            <a:r>
              <a:rPr sz="3200" b="1" i="0">
                <a:solidFill>
                  <a:srgbClr val="0E3F6E"/>
                </a:solidFill>
                <a:latin typeface="Calibri"/>
              </a:rPr>
              <a:t>From this repo to the field in 90 days</a:t>
            </a:r>
          </a:p>
        </p:txBody>
      </p:sp>
      <p:sp>
        <p:nvSpPr>
          <p:cNvPr id="5" name="Rectangle 4"/>
          <p:cNvSpPr/>
          <p:nvPr/>
        </p:nvSpPr>
        <p:spPr>
          <a:xfrm>
            <a:off x="502920" y="2011680"/>
            <a:ext cx="3703320" cy="548640"/>
          </a:xfrm>
          <a:prstGeom prst="rect">
            <a:avLst/>
          </a:prstGeom>
          <a:solidFill>
            <a:srgbClr val="0E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57400"/>
            <a:ext cx="3429000" cy="274320"/>
          </a:xfrm>
          <a:prstGeom prst="rect">
            <a:avLst/>
          </a:prstGeom>
          <a:noFill/>
        </p:spPr>
        <p:txBody>
          <a:bodyPr wrap="square" anchor="t" lIns="0" rIns="0" tIns="0" bIns="0">
            <a:spAutoFit/>
          </a:bodyPr>
          <a:lstStyle/>
          <a:p>
            <a:pPr algn="l"/>
            <a:r>
              <a:rPr sz="1100" b="1" i="0">
                <a:solidFill>
                  <a:srgbClr val="FFFFFF"/>
                </a:solidFill>
                <a:latin typeface="Calibri"/>
              </a:rPr>
              <a:t>MONTH 1</a:t>
            </a:r>
          </a:p>
        </p:txBody>
      </p:sp>
      <p:sp>
        <p:nvSpPr>
          <p:cNvPr id="7" name="TextBox 6"/>
          <p:cNvSpPr txBox="1"/>
          <p:nvPr/>
        </p:nvSpPr>
        <p:spPr>
          <a:xfrm>
            <a:off x="640080" y="2286000"/>
            <a:ext cx="3429000" cy="274320"/>
          </a:xfrm>
          <a:prstGeom prst="rect">
            <a:avLst/>
          </a:prstGeom>
          <a:noFill/>
        </p:spPr>
        <p:txBody>
          <a:bodyPr wrap="square" anchor="t" lIns="0" rIns="0" tIns="0" bIns="0">
            <a:spAutoFit/>
          </a:bodyPr>
          <a:lstStyle/>
          <a:p>
            <a:pPr algn="l"/>
            <a:r>
              <a:rPr sz="1400" b="1" i="0">
                <a:solidFill>
                  <a:srgbClr val="FFFFFF"/>
                </a:solidFill>
                <a:latin typeface="Calibri"/>
              </a:rPr>
              <a:t>PILOT</a:t>
            </a:r>
          </a:p>
        </p:txBody>
      </p:sp>
      <p:sp>
        <p:nvSpPr>
          <p:cNvPr id="8" name="Rectangle 7"/>
          <p:cNvSpPr/>
          <p:nvPr/>
        </p:nvSpPr>
        <p:spPr>
          <a:xfrm>
            <a:off x="502920" y="2560320"/>
            <a:ext cx="3703320" cy="3657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560320"/>
            <a:ext cx="54864" cy="3657600"/>
          </a:xfrm>
          <a:prstGeom prst="rect">
            <a:avLst/>
          </a:prstGeom>
          <a:solidFill>
            <a:srgbClr val="0E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697480"/>
            <a:ext cx="3337560" cy="3383280"/>
          </a:xfrm>
          <a:prstGeom prst="rect">
            <a:avLst/>
          </a:prstGeom>
          <a:noFill/>
        </p:spPr>
        <p:txBody>
          <a:bodyPr wrap="square" lIns="0">
            <a:spAutoFit/>
          </a:bodyPr>
          <a:lstStyle/>
          <a:p>
            <a:pPr algn="l">
              <a:lnSpc>
                <a:spcPct val="125000"/>
              </a:lnSpc>
              <a:spcAft>
                <a:spcPts val="600"/>
              </a:spcAft>
            </a:pPr>
            <a:r>
              <a:rPr sz="1300">
                <a:solidFill>
                  <a:srgbClr val="1A202C"/>
                </a:solidFill>
                <a:latin typeface="Calibri"/>
              </a:rPr>
              <a:t>• Deploy 30 of the Top-100 coolers across two distributors</a:t>
            </a:r>
          </a:p>
          <a:p>
            <a:pPr algn="l">
              <a:lnSpc>
                <a:spcPct val="125000"/>
              </a:lnSpc>
              <a:spcAft>
                <a:spcPts val="600"/>
              </a:spcAft>
            </a:pPr>
            <a:r>
              <a:rPr sz="1300">
                <a:solidFill>
                  <a:srgbClr val="1A202C"/>
                </a:solidFill>
                <a:latin typeface="Calibri"/>
              </a:rPr>
              <a:t>• Track weekly uplift vs predicted</a:t>
            </a:r>
          </a:p>
          <a:p>
            <a:pPr algn="l">
              <a:lnSpc>
                <a:spcPct val="125000"/>
              </a:lnSpc>
              <a:spcAft>
                <a:spcPts val="600"/>
              </a:spcAft>
            </a:pPr>
            <a:r>
              <a:rPr sz="1300">
                <a:solidFill>
                  <a:srgbClr val="1A202C"/>
                </a:solidFill>
                <a:latin typeface="Calibri"/>
              </a:rPr>
              <a:t>• Train sales reps on the Outlet Intelligence app</a:t>
            </a:r>
          </a:p>
          <a:p>
            <a:pPr algn="l">
              <a:lnSpc>
                <a:spcPct val="125000"/>
              </a:lnSpc>
              <a:spcAft>
                <a:spcPts val="600"/>
              </a:spcAft>
            </a:pPr>
            <a:r>
              <a:rPr sz="1300">
                <a:solidFill>
                  <a:srgbClr val="1A202C"/>
                </a:solidFill>
                <a:latin typeface="Calibri"/>
              </a:rPr>
              <a:t>• Deploy silver-clean DQ checks into the live SFA/ERP pipeline</a:t>
            </a:r>
          </a:p>
        </p:txBody>
      </p:sp>
      <p:sp>
        <p:nvSpPr>
          <p:cNvPr id="11" name="Rectangle 10"/>
          <p:cNvSpPr/>
          <p:nvPr/>
        </p:nvSpPr>
        <p:spPr>
          <a:xfrm>
            <a:off x="4297680" y="2011680"/>
            <a:ext cx="3703320" cy="5486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2057400"/>
            <a:ext cx="3429000" cy="274320"/>
          </a:xfrm>
          <a:prstGeom prst="rect">
            <a:avLst/>
          </a:prstGeom>
          <a:noFill/>
        </p:spPr>
        <p:txBody>
          <a:bodyPr wrap="square" anchor="t" lIns="0" rIns="0" tIns="0" bIns="0">
            <a:spAutoFit/>
          </a:bodyPr>
          <a:lstStyle/>
          <a:p>
            <a:pPr algn="l"/>
            <a:r>
              <a:rPr sz="1100" b="1" i="0">
                <a:solidFill>
                  <a:srgbClr val="FFFFFF"/>
                </a:solidFill>
                <a:latin typeface="Calibri"/>
              </a:rPr>
              <a:t>MONTH 2</a:t>
            </a:r>
          </a:p>
        </p:txBody>
      </p:sp>
      <p:sp>
        <p:nvSpPr>
          <p:cNvPr id="13" name="TextBox 12"/>
          <p:cNvSpPr txBox="1"/>
          <p:nvPr/>
        </p:nvSpPr>
        <p:spPr>
          <a:xfrm>
            <a:off x="4434840" y="2286000"/>
            <a:ext cx="3429000" cy="274320"/>
          </a:xfrm>
          <a:prstGeom prst="rect">
            <a:avLst/>
          </a:prstGeom>
          <a:noFill/>
        </p:spPr>
        <p:txBody>
          <a:bodyPr wrap="square" anchor="t" lIns="0" rIns="0" tIns="0" bIns="0">
            <a:spAutoFit/>
          </a:bodyPr>
          <a:lstStyle/>
          <a:p>
            <a:pPr algn="l"/>
            <a:r>
              <a:rPr sz="1400" b="1" i="0">
                <a:solidFill>
                  <a:srgbClr val="FFFFFF"/>
                </a:solidFill>
                <a:latin typeface="Calibri"/>
              </a:rPr>
              <a:t>CALIBRATE</a:t>
            </a:r>
          </a:p>
        </p:txBody>
      </p:sp>
      <p:sp>
        <p:nvSpPr>
          <p:cNvPr id="14" name="Rectangle 13"/>
          <p:cNvSpPr/>
          <p:nvPr/>
        </p:nvSpPr>
        <p:spPr>
          <a:xfrm>
            <a:off x="4297680" y="2560320"/>
            <a:ext cx="3703320" cy="3657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560320"/>
            <a:ext cx="54864" cy="36576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2697480"/>
            <a:ext cx="3337560" cy="3383280"/>
          </a:xfrm>
          <a:prstGeom prst="rect">
            <a:avLst/>
          </a:prstGeom>
          <a:noFill/>
        </p:spPr>
        <p:txBody>
          <a:bodyPr wrap="square" lIns="0">
            <a:spAutoFit/>
          </a:bodyPr>
          <a:lstStyle/>
          <a:p>
            <a:pPr algn="l">
              <a:lnSpc>
                <a:spcPct val="125000"/>
              </a:lnSpc>
              <a:spcAft>
                <a:spcPts val="600"/>
              </a:spcAft>
            </a:pPr>
            <a:r>
              <a:rPr sz="1300">
                <a:solidFill>
                  <a:srgbClr val="1A202C"/>
                </a:solidFill>
                <a:latin typeface="Calibri"/>
              </a:rPr>
              <a:t>• Fit β (litres-per-LKR elasticity) from pilot data</a:t>
            </a:r>
          </a:p>
          <a:p>
            <a:pPr algn="l">
              <a:lnSpc>
                <a:spcPct val="125000"/>
              </a:lnSpc>
              <a:spcAft>
                <a:spcPts val="600"/>
              </a:spcAft>
            </a:pPr>
            <a:r>
              <a:rPr sz="1300">
                <a:solidFill>
                  <a:srgbClr val="1A202C"/>
                </a:solidFill>
                <a:latin typeface="Calibri"/>
              </a:rPr>
              <a:t>• Operationalise weekly dormancy alerts</a:t>
            </a:r>
          </a:p>
          <a:p>
            <a:pPr algn="l">
              <a:lnSpc>
                <a:spcPct val="125000"/>
              </a:lnSpc>
              <a:spcAft>
                <a:spcPts val="600"/>
              </a:spcAft>
            </a:pPr>
            <a:r>
              <a:rPr sz="1300">
                <a:solidFill>
                  <a:srgbClr val="1A202C"/>
                </a:solidFill>
                <a:latin typeface="Calibri"/>
              </a:rPr>
              <a:t>• First distributor scorecard review</a:t>
            </a:r>
          </a:p>
          <a:p>
            <a:pPr algn="l">
              <a:lnSpc>
                <a:spcPct val="125000"/>
              </a:lnSpc>
              <a:spcAft>
                <a:spcPts val="600"/>
              </a:spcAft>
            </a:pPr>
            <a:r>
              <a:rPr sz="1300">
                <a:solidFill>
                  <a:srgbClr val="1A202C"/>
                </a:solidFill>
                <a:latin typeface="Calibri"/>
              </a:rPr>
              <a:t>• Audit forensic findings in production</a:t>
            </a:r>
          </a:p>
        </p:txBody>
      </p:sp>
      <p:sp>
        <p:nvSpPr>
          <p:cNvPr id="17" name="Rectangle 16"/>
          <p:cNvSpPr/>
          <p:nvPr/>
        </p:nvSpPr>
        <p:spPr>
          <a:xfrm>
            <a:off x="8092440" y="2011680"/>
            <a:ext cx="3703320" cy="54864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2057400"/>
            <a:ext cx="3429000" cy="274320"/>
          </a:xfrm>
          <a:prstGeom prst="rect">
            <a:avLst/>
          </a:prstGeom>
          <a:noFill/>
        </p:spPr>
        <p:txBody>
          <a:bodyPr wrap="square" anchor="t" lIns="0" rIns="0" tIns="0" bIns="0">
            <a:spAutoFit/>
          </a:bodyPr>
          <a:lstStyle/>
          <a:p>
            <a:pPr algn="l"/>
            <a:r>
              <a:rPr sz="1100" b="1" i="0">
                <a:solidFill>
                  <a:srgbClr val="FFFFFF"/>
                </a:solidFill>
                <a:latin typeface="Calibri"/>
              </a:rPr>
              <a:t>MONTH 3</a:t>
            </a:r>
          </a:p>
        </p:txBody>
      </p:sp>
      <p:sp>
        <p:nvSpPr>
          <p:cNvPr id="19" name="TextBox 18"/>
          <p:cNvSpPr txBox="1"/>
          <p:nvPr/>
        </p:nvSpPr>
        <p:spPr>
          <a:xfrm>
            <a:off x="8229600" y="2286000"/>
            <a:ext cx="3429000" cy="274320"/>
          </a:xfrm>
          <a:prstGeom prst="rect">
            <a:avLst/>
          </a:prstGeom>
          <a:noFill/>
        </p:spPr>
        <p:txBody>
          <a:bodyPr wrap="square" anchor="t" lIns="0" rIns="0" tIns="0" bIns="0">
            <a:spAutoFit/>
          </a:bodyPr>
          <a:lstStyle/>
          <a:p>
            <a:pPr algn="l"/>
            <a:r>
              <a:rPr sz="1400" b="1" i="0">
                <a:solidFill>
                  <a:srgbClr val="FFFFFF"/>
                </a:solidFill>
                <a:latin typeface="Calibri"/>
              </a:rPr>
              <a:t>SCALE</a:t>
            </a:r>
          </a:p>
        </p:txBody>
      </p:sp>
      <p:sp>
        <p:nvSpPr>
          <p:cNvPr id="20" name="Rectangle 19"/>
          <p:cNvSpPr/>
          <p:nvPr/>
        </p:nvSpPr>
        <p:spPr>
          <a:xfrm>
            <a:off x="8092440" y="2560320"/>
            <a:ext cx="3703320" cy="3657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92440" y="2560320"/>
            <a:ext cx="54864" cy="36576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320" y="2697480"/>
            <a:ext cx="3337560" cy="3383280"/>
          </a:xfrm>
          <a:prstGeom prst="rect">
            <a:avLst/>
          </a:prstGeom>
          <a:noFill/>
        </p:spPr>
        <p:txBody>
          <a:bodyPr wrap="square" lIns="0">
            <a:spAutoFit/>
          </a:bodyPr>
          <a:lstStyle/>
          <a:p>
            <a:pPr algn="l">
              <a:lnSpc>
                <a:spcPct val="125000"/>
              </a:lnSpc>
              <a:spcAft>
                <a:spcPts val="600"/>
              </a:spcAft>
            </a:pPr>
            <a:r>
              <a:rPr sz="1300">
                <a:solidFill>
                  <a:srgbClr val="1A202C"/>
                </a:solidFill>
                <a:latin typeface="Calibri"/>
              </a:rPr>
              <a:t>• Deploy remaining 70 coolers in the Top-100</a:t>
            </a:r>
          </a:p>
          <a:p>
            <a:pPr algn="l">
              <a:lnSpc>
                <a:spcPct val="125000"/>
              </a:lnSpc>
              <a:spcAft>
                <a:spcPts val="600"/>
              </a:spcAft>
            </a:pPr>
            <a:r>
              <a:rPr sz="1300">
                <a:solidFill>
                  <a:srgbClr val="1A202C"/>
                </a:solidFill>
                <a:latin typeface="Calibri"/>
              </a:rPr>
              <a:t>• A/B test discount vs merchandising on 200 outlets/channel</a:t>
            </a:r>
          </a:p>
          <a:p>
            <a:pPr algn="l">
              <a:lnSpc>
                <a:spcPct val="125000"/>
              </a:lnSpc>
              <a:spcAft>
                <a:spcPts val="600"/>
              </a:spcAft>
            </a:pPr>
            <a:r>
              <a:rPr sz="1300">
                <a:solidFill>
                  <a:srgbClr val="1A202C"/>
                </a:solidFill>
                <a:latin typeface="Calibri"/>
              </a:rPr>
              <a:t>• Re-baseline framework with 2026 actuals</a:t>
            </a:r>
          </a:p>
          <a:p>
            <a:pPr algn="l">
              <a:lnSpc>
                <a:spcPct val="125000"/>
              </a:lnSpc>
              <a:spcAft>
                <a:spcPts val="600"/>
              </a:spcAft>
            </a:pPr>
            <a:r>
              <a:rPr sz="1300">
                <a:solidFill>
                  <a:srgbClr val="1A202C"/>
                </a:solidFill>
                <a:latin typeface="Calibri"/>
              </a:rPr>
              <a:t>• First quarterly trade-spend review driven by this system</a:t>
            </a:r>
          </a:p>
        </p:txBody>
      </p:sp>
      <p:sp>
        <p:nvSpPr>
          <p:cNvPr id="23" name="TextBox 22"/>
          <p:cNvSpPr txBox="1"/>
          <p:nvPr/>
        </p:nvSpPr>
        <p:spPr>
          <a:xfrm>
            <a:off x="502920" y="6355080"/>
            <a:ext cx="11155680" cy="365760"/>
          </a:xfrm>
          <a:prstGeom prst="rect">
            <a:avLst/>
          </a:prstGeom>
          <a:noFill/>
        </p:spPr>
        <p:txBody>
          <a:bodyPr wrap="square" anchor="t" lIns="0" rIns="0" tIns="0" bIns="0">
            <a:spAutoFit/>
          </a:bodyPr>
          <a:lstStyle/>
          <a:p>
            <a:pPr algn="l"/>
            <a:r>
              <a:rPr sz="1200" b="0" i="1">
                <a:solidFill>
                  <a:srgbClr val="5A6778"/>
                </a:solidFill>
                <a:latin typeface="Calibri"/>
              </a:rPr>
              <a:t>Six months in, every quarterly trade-spend allocation comes from this system.</a:t>
            </a:r>
          </a:p>
        </p:txBody>
      </p:sp>
      <p:sp>
        <p:nvSpPr>
          <p:cNvPr id="24" name="TextBox 23"/>
          <p:cNvSpPr txBox="1"/>
          <p:nvPr/>
        </p:nvSpPr>
        <p:spPr>
          <a:xfrm>
            <a:off x="10515600" y="6492240"/>
            <a:ext cx="1463040" cy="274320"/>
          </a:xfrm>
          <a:prstGeom prst="rect">
            <a:avLst/>
          </a:prstGeom>
          <a:noFill/>
        </p:spPr>
        <p:txBody>
          <a:bodyPr wrap="square" anchor="t" lIns="0" rIns="0" tIns="0" bIns="0">
            <a:spAutoFit/>
          </a:bodyPr>
          <a:lstStyle/>
          <a:p>
            <a:pPr algn="r"/>
            <a:r>
              <a:rPr sz="1000" b="0" i="0">
                <a:solidFill>
                  <a:srgbClr val="5A6778"/>
                </a:solidFill>
                <a:latin typeface="Calibri"/>
              </a:rPr>
              <a:t>9 / 10</a:t>
            </a:r>
          </a:p>
        </p:txBody>
      </p:sp>
      <p:sp>
        <p:nvSpPr>
          <p:cNvPr id="25" name="TextBox 24"/>
          <p:cNvSpPr txBox="1"/>
          <p:nvPr/>
        </p:nvSpPr>
        <p:spPr>
          <a:xfrm>
            <a:off x="502920" y="6492240"/>
            <a:ext cx="7315200" cy="274320"/>
          </a:xfrm>
          <a:prstGeom prst="rect">
            <a:avLst/>
          </a:prstGeom>
          <a:noFill/>
        </p:spPr>
        <p:txBody>
          <a:bodyPr wrap="square" anchor="t" lIns="0" rIns="0" tIns="0" bIns="0">
            <a:spAutoFit/>
          </a:bodyPr>
          <a:lstStyle/>
          <a:p>
            <a:pPr algn="l"/>
            <a:r>
              <a:rPr sz="1000" b="0" i="0">
                <a:solidFill>
                  <a:srgbClr val="5A6778"/>
                </a:solidFill>
                <a:latin typeface="Calibri"/>
              </a:rPr>
              <a:t>Rollout plan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E3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0"/>
            <a:ext cx="12191695" cy="109728"/>
          </a:xfrm>
          <a:prstGeom prst="rect">
            <a:avLst/>
          </a:prstGeom>
          <a:solidFill>
            <a:srgbClr val="0E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10972800" cy="365760"/>
          </a:xfrm>
          <a:prstGeom prst="rect">
            <a:avLst/>
          </a:prstGeom>
          <a:noFill/>
        </p:spPr>
        <p:txBody>
          <a:bodyPr wrap="square" anchor="t" lIns="0" rIns="0" tIns="0" bIns="0">
            <a:spAutoFit/>
          </a:bodyPr>
          <a:lstStyle/>
          <a:p>
            <a:pPr algn="l"/>
            <a:r>
              <a:rPr sz="1400" b="1" i="0">
                <a:solidFill>
                  <a:srgbClr val="0E7CBE"/>
                </a:solidFill>
                <a:latin typeface="Calibri"/>
              </a:rPr>
              <a:t>09 · QUANTIFIED IMPACT</a:t>
            </a:r>
          </a:p>
        </p:txBody>
      </p:sp>
      <p:sp>
        <p:nvSpPr>
          <p:cNvPr id="5" name="TextBox 4"/>
          <p:cNvSpPr txBox="1"/>
          <p:nvPr/>
        </p:nvSpPr>
        <p:spPr>
          <a:xfrm>
            <a:off x="640080" y="1005840"/>
            <a:ext cx="10972800" cy="822960"/>
          </a:xfrm>
          <a:prstGeom prst="rect">
            <a:avLst/>
          </a:prstGeom>
          <a:noFill/>
        </p:spPr>
        <p:txBody>
          <a:bodyPr wrap="square" anchor="t" lIns="0" rIns="0" tIns="0" bIns="0">
            <a:spAutoFit/>
          </a:bodyPr>
          <a:lstStyle/>
          <a:p>
            <a:pPr algn="l"/>
            <a:r>
              <a:rPr sz="4000" b="1" i="0">
                <a:solidFill>
                  <a:srgbClr val="FFFFFF"/>
                </a:solidFill>
                <a:latin typeface="Calibri"/>
              </a:rPr>
              <a:t>What this delivers</a:t>
            </a:r>
          </a:p>
        </p:txBody>
      </p:sp>
      <p:sp>
        <p:nvSpPr>
          <p:cNvPr id="6" name="Rectangle 5"/>
          <p:cNvSpPr/>
          <p:nvPr/>
        </p:nvSpPr>
        <p:spPr>
          <a:xfrm>
            <a:off x="640080" y="2103120"/>
            <a:ext cx="10881360" cy="640080"/>
          </a:xfrm>
          <a:prstGeom prst="rect">
            <a:avLst/>
          </a:prstGeom>
          <a:solidFill>
            <a:srgbClr val="144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103120"/>
            <a:ext cx="146304" cy="640080"/>
          </a:xfrm>
          <a:prstGeom prst="rect">
            <a:avLst/>
          </a:prstGeom>
          <a:solidFill>
            <a:srgbClr val="0E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76272"/>
            <a:ext cx="3200400" cy="502920"/>
          </a:xfrm>
          <a:prstGeom prst="rect">
            <a:avLst/>
          </a:prstGeom>
          <a:noFill/>
        </p:spPr>
        <p:txBody>
          <a:bodyPr wrap="square" anchor="ctr" lIns="0" rIns="0" tIns="0" bIns="0">
            <a:spAutoFit/>
          </a:bodyPr>
          <a:lstStyle/>
          <a:p>
            <a:pPr algn="l"/>
            <a:r>
              <a:rPr sz="1400" b="1" i="0">
                <a:solidFill>
                  <a:srgbClr val="0E7CBE"/>
                </a:solidFill>
                <a:latin typeface="Calibri"/>
              </a:rPr>
              <a:t>Capital efficiency</a:t>
            </a:r>
          </a:p>
        </p:txBody>
      </p:sp>
      <p:sp>
        <p:nvSpPr>
          <p:cNvPr id="9" name="TextBox 8"/>
          <p:cNvSpPr txBox="1"/>
          <p:nvPr/>
        </p:nvSpPr>
        <p:spPr>
          <a:xfrm>
            <a:off x="4114800" y="2176272"/>
            <a:ext cx="7315200" cy="502920"/>
          </a:xfrm>
          <a:prstGeom prst="rect">
            <a:avLst/>
          </a:prstGeom>
          <a:noFill/>
        </p:spPr>
        <p:txBody>
          <a:bodyPr wrap="square" anchor="ctr" lIns="0" rIns="0" tIns="0" bIns="0">
            <a:spAutoFit/>
          </a:bodyPr>
          <a:lstStyle/>
          <a:p>
            <a:pPr algn="l"/>
            <a:r>
              <a:rPr sz="1300" b="0" i="0">
                <a:solidFill>
                  <a:srgbClr val="FFFFFF"/>
                </a:solidFill>
                <a:latin typeface="Calibri"/>
              </a:rPr>
              <a:t>LKR 28.6 M net 24-month value from a LKR 5 M cooler programme</a:t>
            </a:r>
          </a:p>
        </p:txBody>
      </p:sp>
      <p:sp>
        <p:nvSpPr>
          <p:cNvPr id="10" name="Rectangle 9"/>
          <p:cNvSpPr/>
          <p:nvPr/>
        </p:nvSpPr>
        <p:spPr>
          <a:xfrm>
            <a:off x="640080" y="2816352"/>
            <a:ext cx="10881360" cy="640080"/>
          </a:xfrm>
          <a:prstGeom prst="rect">
            <a:avLst/>
          </a:prstGeom>
          <a:solidFill>
            <a:srgbClr val="144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816352"/>
            <a:ext cx="146304" cy="640080"/>
          </a:xfrm>
          <a:prstGeom prst="rect">
            <a:avLst/>
          </a:prstGeom>
          <a:solidFill>
            <a:srgbClr val="0E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89504"/>
            <a:ext cx="3200400" cy="502920"/>
          </a:xfrm>
          <a:prstGeom prst="rect">
            <a:avLst/>
          </a:prstGeom>
          <a:noFill/>
        </p:spPr>
        <p:txBody>
          <a:bodyPr wrap="square" anchor="ctr" lIns="0" rIns="0" tIns="0" bIns="0">
            <a:spAutoFit/>
          </a:bodyPr>
          <a:lstStyle/>
          <a:p>
            <a:pPr algn="l"/>
            <a:r>
              <a:rPr sz="1400" b="1" i="0">
                <a:solidFill>
                  <a:srgbClr val="0E7CBE"/>
                </a:solidFill>
                <a:latin typeface="Calibri"/>
              </a:rPr>
              <a:t>Sales coverage</a:t>
            </a:r>
          </a:p>
        </p:txBody>
      </p:sp>
      <p:sp>
        <p:nvSpPr>
          <p:cNvPr id="13" name="TextBox 12"/>
          <p:cNvSpPr txBox="1"/>
          <p:nvPr/>
        </p:nvSpPr>
        <p:spPr>
          <a:xfrm>
            <a:off x="4114800" y="2889504"/>
            <a:ext cx="7315200" cy="502920"/>
          </a:xfrm>
          <a:prstGeom prst="rect">
            <a:avLst/>
          </a:prstGeom>
          <a:noFill/>
        </p:spPr>
        <p:txBody>
          <a:bodyPr wrap="square" anchor="ctr" lIns="0" rIns="0" tIns="0" bIns="0">
            <a:spAutoFit/>
          </a:bodyPr>
          <a:lstStyle/>
          <a:p>
            <a:pPr algn="l"/>
            <a:r>
              <a:rPr sz="1300" b="0" i="0">
                <a:solidFill>
                  <a:srgbClr val="FFFFFF"/>
                </a:solidFill>
                <a:latin typeface="Calibri"/>
              </a:rPr>
              <a:t>Top-200 at-risk outlets flagged before they lapse  ·  AUC 0.879</a:t>
            </a:r>
          </a:p>
        </p:txBody>
      </p:sp>
      <p:sp>
        <p:nvSpPr>
          <p:cNvPr id="14" name="Rectangle 13"/>
          <p:cNvSpPr/>
          <p:nvPr/>
        </p:nvSpPr>
        <p:spPr>
          <a:xfrm>
            <a:off x="640080" y="3529584"/>
            <a:ext cx="10881360" cy="640080"/>
          </a:xfrm>
          <a:prstGeom prst="rect">
            <a:avLst/>
          </a:prstGeom>
          <a:solidFill>
            <a:srgbClr val="144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529584"/>
            <a:ext cx="146304" cy="640080"/>
          </a:xfrm>
          <a:prstGeom prst="rect">
            <a:avLst/>
          </a:prstGeom>
          <a:solidFill>
            <a:srgbClr val="0E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602736"/>
            <a:ext cx="3200400" cy="502920"/>
          </a:xfrm>
          <a:prstGeom prst="rect">
            <a:avLst/>
          </a:prstGeom>
          <a:noFill/>
        </p:spPr>
        <p:txBody>
          <a:bodyPr wrap="square" anchor="ctr" lIns="0" rIns="0" tIns="0" bIns="0">
            <a:spAutoFit/>
          </a:bodyPr>
          <a:lstStyle/>
          <a:p>
            <a:pPr algn="l"/>
            <a:r>
              <a:rPr sz="1400" b="1" i="0">
                <a:solidFill>
                  <a:srgbClr val="0E7CBE"/>
                </a:solidFill>
                <a:latin typeface="Calibri"/>
              </a:rPr>
              <a:t>Channel discipline</a:t>
            </a:r>
          </a:p>
        </p:txBody>
      </p:sp>
      <p:sp>
        <p:nvSpPr>
          <p:cNvPr id="17" name="TextBox 16"/>
          <p:cNvSpPr txBox="1"/>
          <p:nvPr/>
        </p:nvSpPr>
        <p:spPr>
          <a:xfrm>
            <a:off x="4114800" y="3602736"/>
            <a:ext cx="7315200" cy="502920"/>
          </a:xfrm>
          <a:prstGeom prst="rect">
            <a:avLst/>
          </a:prstGeom>
          <a:noFill/>
        </p:spPr>
        <p:txBody>
          <a:bodyPr wrap="square" anchor="ctr" lIns="0" rIns="0" tIns="0" bIns="0">
            <a:spAutoFit/>
          </a:bodyPr>
          <a:lstStyle/>
          <a:p>
            <a:pPr algn="l"/>
            <a:r>
              <a:rPr sz="1300" b="0" i="0">
                <a:solidFill>
                  <a:srgbClr val="FFFFFF"/>
                </a:solidFill>
                <a:latin typeface="Calibri"/>
              </a:rPr>
              <a:t>First per-outlet split of trade spend (35 / 42 / 23)</a:t>
            </a:r>
          </a:p>
        </p:txBody>
      </p:sp>
      <p:sp>
        <p:nvSpPr>
          <p:cNvPr id="18" name="Rectangle 17"/>
          <p:cNvSpPr/>
          <p:nvPr/>
        </p:nvSpPr>
        <p:spPr>
          <a:xfrm>
            <a:off x="640080" y="4242816"/>
            <a:ext cx="10881360" cy="640080"/>
          </a:xfrm>
          <a:prstGeom prst="rect">
            <a:avLst/>
          </a:prstGeom>
          <a:solidFill>
            <a:srgbClr val="144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242816"/>
            <a:ext cx="146304" cy="640080"/>
          </a:xfrm>
          <a:prstGeom prst="rect">
            <a:avLst/>
          </a:prstGeom>
          <a:solidFill>
            <a:srgbClr val="0E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315968"/>
            <a:ext cx="3200400" cy="502920"/>
          </a:xfrm>
          <a:prstGeom prst="rect">
            <a:avLst/>
          </a:prstGeom>
          <a:noFill/>
        </p:spPr>
        <p:txBody>
          <a:bodyPr wrap="square" anchor="ctr" lIns="0" rIns="0" tIns="0" bIns="0">
            <a:spAutoFit/>
          </a:bodyPr>
          <a:lstStyle/>
          <a:p>
            <a:pPr algn="l"/>
            <a:r>
              <a:rPr sz="1400" b="1" i="0">
                <a:solidFill>
                  <a:srgbClr val="0E7CBE"/>
                </a:solidFill>
                <a:latin typeface="Calibri"/>
              </a:rPr>
              <a:t>Operational visibility</a:t>
            </a:r>
          </a:p>
        </p:txBody>
      </p:sp>
      <p:sp>
        <p:nvSpPr>
          <p:cNvPr id="21" name="TextBox 20"/>
          <p:cNvSpPr txBox="1"/>
          <p:nvPr/>
        </p:nvSpPr>
        <p:spPr>
          <a:xfrm>
            <a:off x="4114800" y="4315968"/>
            <a:ext cx="7315200" cy="502920"/>
          </a:xfrm>
          <a:prstGeom prst="rect">
            <a:avLst/>
          </a:prstGeom>
          <a:noFill/>
        </p:spPr>
        <p:txBody>
          <a:bodyPr wrap="square" anchor="ctr" lIns="0" rIns="0" tIns="0" bIns="0">
            <a:spAutoFit/>
          </a:bodyPr>
          <a:lstStyle/>
          <a:p>
            <a:pPr algn="l"/>
            <a:r>
              <a:rPr sz="1300" b="0" i="0">
                <a:solidFill>
                  <a:srgbClr val="FFFFFF"/>
                </a:solidFill>
                <a:latin typeface="Calibri"/>
              </a:rPr>
              <a:t>10-distributor scorecard  ·  two-standard-deviation best-to-worst gap</a:t>
            </a:r>
          </a:p>
        </p:txBody>
      </p:sp>
      <p:sp>
        <p:nvSpPr>
          <p:cNvPr id="22" name="Rectangle 21"/>
          <p:cNvSpPr/>
          <p:nvPr/>
        </p:nvSpPr>
        <p:spPr>
          <a:xfrm>
            <a:off x="640080" y="4956048"/>
            <a:ext cx="10881360" cy="640080"/>
          </a:xfrm>
          <a:prstGeom prst="rect">
            <a:avLst/>
          </a:prstGeom>
          <a:solidFill>
            <a:srgbClr val="144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4956048"/>
            <a:ext cx="146304" cy="640080"/>
          </a:xfrm>
          <a:prstGeom prst="rect">
            <a:avLst/>
          </a:prstGeom>
          <a:solidFill>
            <a:srgbClr val="0E7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029200"/>
            <a:ext cx="3200400" cy="502920"/>
          </a:xfrm>
          <a:prstGeom prst="rect">
            <a:avLst/>
          </a:prstGeom>
          <a:noFill/>
        </p:spPr>
        <p:txBody>
          <a:bodyPr wrap="square" anchor="ctr" lIns="0" rIns="0" tIns="0" bIns="0">
            <a:spAutoFit/>
          </a:bodyPr>
          <a:lstStyle/>
          <a:p>
            <a:pPr algn="l"/>
            <a:r>
              <a:rPr sz="1400" b="1" i="0">
                <a:solidFill>
                  <a:srgbClr val="0E7CBE"/>
                </a:solidFill>
                <a:latin typeface="Calibri"/>
              </a:rPr>
              <a:t>Decision integrity</a:t>
            </a:r>
          </a:p>
        </p:txBody>
      </p:sp>
      <p:sp>
        <p:nvSpPr>
          <p:cNvPr id="25" name="TextBox 24"/>
          <p:cNvSpPr txBox="1"/>
          <p:nvPr/>
        </p:nvSpPr>
        <p:spPr>
          <a:xfrm>
            <a:off x="4114800" y="5029200"/>
            <a:ext cx="7315200" cy="502920"/>
          </a:xfrm>
          <a:prstGeom prst="rect">
            <a:avLst/>
          </a:prstGeom>
          <a:noFill/>
        </p:spPr>
        <p:txBody>
          <a:bodyPr wrap="square" anchor="ctr" lIns="0" rIns="0" tIns="0" bIns="0">
            <a:spAutoFit/>
          </a:bodyPr>
          <a:lstStyle/>
          <a:p>
            <a:pPr algn="l"/>
            <a:r>
              <a:rPr sz="1300" b="0" i="0">
                <a:solidFill>
                  <a:srgbClr val="FFFFFF"/>
                </a:solidFill>
                <a:latin typeface="Calibri"/>
              </a:rPr>
              <a:t>Every recommendation traceable to SHAP driver + counterfactual scenario</a:t>
            </a:r>
          </a:p>
        </p:txBody>
      </p:sp>
      <p:sp>
        <p:nvSpPr>
          <p:cNvPr id="26" name="TextBox 25"/>
          <p:cNvSpPr txBox="1"/>
          <p:nvPr/>
        </p:nvSpPr>
        <p:spPr>
          <a:xfrm>
            <a:off x="640080" y="5852160"/>
            <a:ext cx="10972800" cy="548640"/>
          </a:xfrm>
          <a:prstGeom prst="rect">
            <a:avLst/>
          </a:prstGeom>
          <a:noFill/>
        </p:spPr>
        <p:txBody>
          <a:bodyPr wrap="square" anchor="t" lIns="0" rIns="0" tIns="0" bIns="0">
            <a:spAutoFit/>
          </a:bodyPr>
          <a:lstStyle/>
          <a:p>
            <a:pPr algn="ctr"/>
            <a:r>
              <a:rPr sz="1800" b="1" i="1">
                <a:solidFill>
                  <a:srgbClr val="FFFFFF"/>
                </a:solidFill>
                <a:latin typeface="Calibri"/>
              </a:rPr>
              <a:t>The dashboard is live. The Top-100 list is ready. The first cooler can go out next week.</a:t>
            </a:r>
          </a:p>
        </p:txBody>
      </p:sp>
      <p:sp>
        <p:nvSpPr>
          <p:cNvPr id="27" name="TextBox 26"/>
          <p:cNvSpPr txBox="1"/>
          <p:nvPr/>
        </p:nvSpPr>
        <p:spPr>
          <a:xfrm>
            <a:off x="10515600" y="6492240"/>
            <a:ext cx="1463040" cy="274320"/>
          </a:xfrm>
          <a:prstGeom prst="rect">
            <a:avLst/>
          </a:prstGeom>
          <a:noFill/>
        </p:spPr>
        <p:txBody>
          <a:bodyPr wrap="square" anchor="t" lIns="0" rIns="0" tIns="0" bIns="0">
            <a:spAutoFit/>
          </a:bodyPr>
          <a:lstStyle/>
          <a:p>
            <a:pPr algn="r"/>
            <a:r>
              <a:rPr sz="1000" b="0" i="0">
                <a:solidFill>
                  <a:srgbClr val="5A6778"/>
                </a:solidFill>
                <a:latin typeface="Calibri"/>
              </a:rPr>
              <a:t>10 / 10</a:t>
            </a:r>
          </a:p>
        </p:txBody>
      </p:sp>
      <p:sp>
        <p:nvSpPr>
          <p:cNvPr id="28" name="TextBox 27"/>
          <p:cNvSpPr txBox="1"/>
          <p:nvPr/>
        </p:nvSpPr>
        <p:spPr>
          <a:xfrm>
            <a:off x="502920" y="6492240"/>
            <a:ext cx="7315200" cy="274320"/>
          </a:xfrm>
          <a:prstGeom prst="rect">
            <a:avLst/>
          </a:prstGeom>
          <a:noFill/>
        </p:spPr>
        <p:txBody>
          <a:bodyPr wrap="square" anchor="t" lIns="0" rIns="0" tIns="0" bIns="0">
            <a:spAutoFit/>
          </a:bodyPr>
          <a:lstStyle/>
          <a:p>
            <a:pPr algn="l"/>
            <a:r>
              <a:rPr sz="1000" b="0" i="0">
                <a:solidFill>
                  <a:srgbClr val="5A6778"/>
                </a:solidFill>
                <a:latin typeface="Calibri"/>
              </a:rPr>
              <a:t>Quantified impact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